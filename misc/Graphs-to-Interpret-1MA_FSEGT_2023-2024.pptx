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80" r:id="rId19"/>
    <p:sldId id="275" r:id="rId20"/>
    <p:sldId id="278" r:id="rId21"/>
    <p:sldId id="282" r:id="rId22"/>
    <p:sldId id="283" r:id="rId23"/>
    <p:sldId id="281"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39" autoAdjust="0"/>
    <p:restoredTop sz="71630" autoAdjust="0"/>
  </p:normalViewPr>
  <p:slideViewPr>
    <p:cSldViewPr snapToGrid="0">
      <p:cViewPr varScale="1">
        <p:scale>
          <a:sx n="78" d="100"/>
          <a:sy n="78" d="100"/>
        </p:scale>
        <p:origin x="1680" y="90"/>
      </p:cViewPr>
      <p:guideLst/>
    </p:cSldViewPr>
  </p:slideViewPr>
  <p:notesTextViewPr>
    <p:cViewPr>
      <p:scale>
        <a:sx n="1" d="1"/>
        <a:sy n="1" d="1"/>
      </p:scale>
      <p:origin x="0" y="0"/>
    </p:cViewPr>
  </p:notesTextViewPr>
  <p:sorterViewPr>
    <p:cViewPr varScale="1">
      <p:scale>
        <a:sx n="100" d="100"/>
        <a:sy n="100" d="100"/>
      </p:scale>
      <p:origin x="0" y="-815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C8723D-B972-4C3D-99B1-F17945E8401E}" type="datetimeFigureOut">
              <a:rPr lang="en-US" smtClean="0"/>
              <a:t>11/21/2023</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7953AC-93C2-44BB-8449-F1935CDFA9AA}" type="slidenum">
              <a:rPr lang="en-US" smtClean="0"/>
              <a:t>‹N°›</a:t>
            </a:fld>
            <a:endParaRPr lang="en-US"/>
          </a:p>
        </p:txBody>
      </p:sp>
    </p:spTree>
    <p:extLst>
      <p:ext uri="{BB962C8B-B14F-4D97-AF65-F5344CB8AC3E}">
        <p14:creationId xmlns:p14="http://schemas.microsoft.com/office/powerpoint/2010/main" val="989307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s://www.gao.gov/products/gao-23-105384#:~:text=For%20example%2C%20profitable%20corporations%20may,2014%20to%209%25%20in%202018" TargetMode="External"/><Relationship Id="rId4" Type="http://schemas.openxmlformats.org/officeDocument/2006/relationships/hyperlink" Target="https://www.pgpf.org/blog/2017/11/what-is-the-difference-between-the-statutory-tax-rate-and-the-effective-tax-rate"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s://taxfoundation.org/pass-through-business-income-since-1980/" TargetMode="External"/><Relationship Id="rId4" Type="http://schemas.openxmlformats.org/officeDocument/2006/relationships/hyperlink" Target="https://www.taxpolicycenter.org/briefing-book/what-are-pass-through-businesses"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s://www.taxpolicycenter.org/publications/what-are-largest-business-tax-expenditures/full" TargetMode="External"/><Relationship Id="rId4" Type="http://schemas.openxmlformats.org/officeDocument/2006/relationships/hyperlink" Target="https://www.brookings.edu/research/9-facts-about-pass-through-businesses/"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pgpf.org/finding-solutions/understanding-the-budget" TargetMode="External"/><Relationship Id="rId2" Type="http://schemas.openxmlformats.org/officeDocument/2006/relationships/slide" Target="../slides/slide28.xml"/><Relationship Id="rId1" Type="http://schemas.openxmlformats.org/officeDocument/2006/relationships/notesMaster" Target="../notesMasters/notesMaster1.xml"/><Relationship Id="rId5" Type="http://schemas.openxmlformats.org/officeDocument/2006/relationships/hyperlink" Target="https://www.taxpolicycenter.org/publications/what-are-largest-business-tax-expenditures/full" TargetMode="External"/><Relationship Id="rId4" Type="http://schemas.openxmlformats.org/officeDocument/2006/relationships/hyperlink" Target="https://www.pgpf.org/budget-basics/tax-expenditures"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dirty="0">
                <a:effectLst/>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none" strike="noStrike" kern="1200" dirty="0">
                <a:solidFill>
                  <a:schemeClr val="tx1"/>
                </a:solidFill>
                <a:effectLst/>
                <a:latin typeface="+mn-lt"/>
                <a:ea typeface="+mn-ea"/>
                <a:cs typeface="+mn-cs"/>
                <a:hlinkClick r:id="rId3"/>
              </a:rPr>
              <a:t>reduce the structural imbalance between spending and revenues</a:t>
            </a:r>
            <a:r>
              <a:rPr lang="en-US" dirty="0">
                <a:effectLst/>
              </a:rPr>
              <a:t>. Below are charts that focus specifically the current state of our corporate income tax system, examining and illustrating reasons for the downward trend.</a:t>
            </a:r>
          </a:p>
          <a:p>
            <a:endParaRPr lang="en-US" dirty="0">
              <a:effectLst/>
            </a:endParaRPr>
          </a:p>
          <a:p>
            <a:r>
              <a:rPr lang="en-US" sz="1200" b="0" i="0" kern="1200" dirty="0">
                <a:solidFill>
                  <a:schemeClr val="tx1"/>
                </a:solidFill>
                <a:effectLst/>
                <a:latin typeface="+mn-lt"/>
                <a:ea typeface="+mn-ea"/>
                <a:cs typeface="+mn-cs"/>
              </a:rPr>
              <a:t>Since the Tax Cuts and Jobs Act (TCJA) was enacted in December 2017, the U.S. corporate tax rate is now more in line with the rates of other advanced economies. The current federal statutory tax rate on corporate income is 21 percent — this does not include the average of corporate taxes imposed at the state and local levels. However, the U.S. tax code has many preferences that affect the rate actually paid by corporations. The </a:t>
            </a:r>
            <a:r>
              <a:rPr lang="en-US" sz="1200" b="0" i="0" u="none" strike="noStrike" kern="1200" dirty="0">
                <a:solidFill>
                  <a:schemeClr val="tx1"/>
                </a:solidFill>
                <a:effectLst/>
                <a:latin typeface="+mn-lt"/>
                <a:ea typeface="+mn-ea"/>
                <a:cs typeface="+mn-cs"/>
                <a:hlinkClick r:id="rId4"/>
              </a:rPr>
              <a:t>effective tax rate</a:t>
            </a:r>
            <a:r>
              <a:rPr lang="en-US" sz="1200" b="0" i="0" kern="1200" dirty="0">
                <a:solidFill>
                  <a:schemeClr val="tx1"/>
                </a:solidFill>
                <a:effectLst/>
                <a:latin typeface="+mn-lt"/>
                <a:ea typeface="+mn-ea"/>
                <a:cs typeface="+mn-cs"/>
              </a:rPr>
              <a:t>, which takes into account those tax provisions, often differs significantly from the statutory rate imposed by law. For example, profitable large corporations paid </a:t>
            </a:r>
            <a:r>
              <a:rPr lang="en-US" sz="1200" b="0" i="0" u="none" strike="noStrike" kern="1200" dirty="0">
                <a:solidFill>
                  <a:schemeClr val="tx1"/>
                </a:solidFill>
                <a:effectLst/>
                <a:latin typeface="+mn-lt"/>
                <a:ea typeface="+mn-ea"/>
                <a:cs typeface="+mn-cs"/>
                <a:hlinkClick r:id="rId5"/>
              </a:rPr>
              <a:t>an average effective federal tax rate of 9 percent in 2018, a decrease from 16 percent in 2014</a:t>
            </a:r>
            <a:r>
              <a:rPr lang="en-US" sz="1200" b="0" i="0" kern="1200" dirty="0">
                <a:solidFill>
                  <a:schemeClr val="tx1"/>
                </a:solidFill>
                <a:effectLst/>
                <a:latin typeface="+mn-lt"/>
                <a:ea typeface="+mn-ea"/>
                <a:cs typeface="+mn-cs"/>
              </a:rPr>
              <a:t>.</a:t>
            </a:r>
          </a:p>
          <a:p>
            <a:br>
              <a:rPr lang="en-US" dirty="0">
                <a:effectLst/>
              </a:rPr>
            </a:br>
            <a:r>
              <a:rPr lang="en-US" dirty="0">
                <a:effectLst/>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none" strike="noStrike" kern="1200" dirty="0">
                <a:solidFill>
                  <a:schemeClr val="tx1"/>
                </a:solidFill>
                <a:effectLst/>
                <a:latin typeface="+mn-lt"/>
                <a:ea typeface="+mn-ea"/>
                <a:cs typeface="+mn-cs"/>
                <a:hlinkClick r:id="rId3"/>
              </a:rPr>
              <a:t>reduce the structural imbalance between spending and revenues</a:t>
            </a:r>
            <a:r>
              <a:rPr lang="en-US" dirty="0">
                <a:effectLst/>
              </a:rPr>
              <a:t>. Below are charts that focus specifically the current state of our corporate income tax system, examining and illustrating reasons for the downward trend.</a:t>
            </a:r>
          </a:p>
          <a:p>
            <a:r>
              <a:rPr lang="en-US" sz="1200" b="0" i="0" kern="1200" dirty="0">
                <a:solidFill>
                  <a:schemeClr val="tx1"/>
                </a:solidFill>
                <a:effectLst/>
                <a:latin typeface="+mn-lt"/>
                <a:ea typeface="+mn-ea"/>
                <a:cs typeface="+mn-cs"/>
              </a:rPr>
              <a:t>Since the Tax Cuts and Jobs Act (TCJA) was enacted in December 2017, the U.S. corporate tax rate is now more in line with the rates of other advanced economies. The current federal statutory tax rate on corporate income is 21 percent — this does not include the average of corporate taxes imposed at the state and local levels. However, the U.S. tax code has many preferences that affect the rate actually paid by corporations. The </a:t>
            </a:r>
            <a:r>
              <a:rPr lang="en-US" sz="1200" b="0" i="0" u="none" strike="noStrike" kern="1200" dirty="0">
                <a:solidFill>
                  <a:schemeClr val="tx1"/>
                </a:solidFill>
                <a:effectLst/>
                <a:latin typeface="+mn-lt"/>
                <a:ea typeface="+mn-ea"/>
                <a:cs typeface="+mn-cs"/>
                <a:hlinkClick r:id="rId4"/>
              </a:rPr>
              <a:t>effective tax rate</a:t>
            </a:r>
            <a:r>
              <a:rPr lang="en-US" sz="1200" b="0" i="0" kern="1200" dirty="0">
                <a:solidFill>
                  <a:schemeClr val="tx1"/>
                </a:solidFill>
                <a:effectLst/>
                <a:latin typeface="+mn-lt"/>
                <a:ea typeface="+mn-ea"/>
                <a:cs typeface="+mn-cs"/>
              </a:rPr>
              <a:t>, which takes into account those tax provisions, often differs significantly from the statutory rate imposed by law. For example, profitable large corporations paid </a:t>
            </a:r>
            <a:r>
              <a:rPr lang="en-US" sz="1200" b="0" i="0" u="none" strike="noStrike" kern="1200" dirty="0">
                <a:solidFill>
                  <a:schemeClr val="tx1"/>
                </a:solidFill>
                <a:effectLst/>
                <a:latin typeface="+mn-lt"/>
                <a:ea typeface="+mn-ea"/>
                <a:cs typeface="+mn-cs"/>
                <a:hlinkClick r:id="rId5"/>
              </a:rPr>
              <a:t>an average effective federal tax rate of 9 percent in 2018, a decrease from 16 percent in 2014</a:t>
            </a:r>
            <a:r>
              <a:rPr lang="en-US" sz="1200" b="0" i="0" kern="1200" dirty="0">
                <a:solidFill>
                  <a:schemeClr val="tx1"/>
                </a:solidFill>
                <a:effectLst/>
                <a:latin typeface="+mn-lt"/>
                <a:ea typeface="+mn-ea"/>
                <a:cs typeface="+mn-cs"/>
              </a:rPr>
              <a:t>.</a:t>
            </a:r>
          </a:p>
          <a:p>
            <a:br>
              <a:rPr lang="en-US" dirty="0">
                <a:effectLst/>
              </a:rPr>
            </a:br>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pPr lvl="0"/>
            <a:r>
              <a:rPr lang="en-US" sz="1200" b="1" kern="1200" dirty="0">
                <a:solidFill>
                  <a:schemeClr val="tx1"/>
                </a:solidFill>
                <a:effectLst/>
                <a:latin typeface="+mn-lt"/>
                <a:ea typeface="+mn-ea"/>
                <a:cs typeface="+mn-cs"/>
              </a:rPr>
              <a:t>Since the Tax Cuts and Jobs Act (TCJA) was enacted in December 2017, the U.S. corporate tax rate is now more in line with the rates of other advanced economies. </a:t>
            </a:r>
            <a:r>
              <a:rPr lang="en-US" sz="1200" kern="1200" dirty="0">
                <a:solidFill>
                  <a:schemeClr val="tx1"/>
                </a:solidFill>
                <a:effectLst/>
                <a:latin typeface="+mn-lt"/>
                <a:ea typeface="+mn-ea"/>
                <a:cs typeface="+mn-cs"/>
              </a:rPr>
              <a:t>The current federal statutory tax rate on corporate income is 21 percent — this does not include the average of corporate taxes imposed at the state and local levels. However, the U.S. tax code has many preferences that affect the rate actually paid by corporations. The </a:t>
            </a:r>
            <a:r>
              <a:rPr lang="en-US" sz="1200" u="sng" kern="1200" dirty="0">
                <a:solidFill>
                  <a:schemeClr val="tx1"/>
                </a:solidFill>
                <a:effectLst/>
                <a:latin typeface="+mn-lt"/>
                <a:ea typeface="+mn-ea"/>
                <a:cs typeface="+mn-cs"/>
                <a:hlinkClick r:id="rId4"/>
              </a:rPr>
              <a:t>effective tax rate</a:t>
            </a:r>
            <a:r>
              <a:rPr lang="en-US" sz="1200" kern="1200" dirty="0">
                <a:solidFill>
                  <a:schemeClr val="tx1"/>
                </a:solidFill>
                <a:effectLst/>
                <a:latin typeface="+mn-lt"/>
                <a:ea typeface="+mn-ea"/>
                <a:cs typeface="+mn-cs"/>
              </a:rPr>
              <a:t>, which takes into account those tax provisions, often differs significantly from the statutory rate imposed by law. For example, profitable large corporations paid </a:t>
            </a:r>
            <a:r>
              <a:rPr lang="en-US" sz="1200" u="sng" kern="1200" dirty="0">
                <a:solidFill>
                  <a:schemeClr val="tx1"/>
                </a:solidFill>
                <a:effectLst/>
                <a:latin typeface="+mn-lt"/>
                <a:ea typeface="+mn-ea"/>
                <a:cs typeface="+mn-cs"/>
                <a:hlinkClick r:id="rId5"/>
              </a:rPr>
              <a:t>an average effective federal tax rate of 9 percent in 2018, a decrease from 16 percent in 2014</a:t>
            </a:r>
            <a:r>
              <a:rPr lang="en-US" sz="1200" kern="1200" dirty="0">
                <a:solidFill>
                  <a:schemeClr val="tx1"/>
                </a:solidFill>
                <a:effectLst/>
                <a:latin typeface="+mn-lt"/>
                <a:ea typeface="+mn-ea"/>
                <a:cs typeface="+mn-cs"/>
              </a:rPr>
              <a:t>.</a:t>
            </a:r>
          </a:p>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22</a:t>
            </a:fld>
            <a:endParaRPr lang="en-US"/>
          </a:p>
        </p:txBody>
      </p:sp>
    </p:spTree>
    <p:extLst>
      <p:ext uri="{BB962C8B-B14F-4D97-AF65-F5344CB8AC3E}">
        <p14:creationId xmlns:p14="http://schemas.microsoft.com/office/powerpoint/2010/main" val="890951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United States collects fewer revenues from corporations, relative to the size of the economy, than most other advanced countries.</a:t>
            </a:r>
            <a:r>
              <a:rPr lang="en-US" sz="1200" kern="1200" dirty="0">
                <a:solidFill>
                  <a:schemeClr val="tx1"/>
                </a:solidFill>
                <a:effectLst/>
                <a:latin typeface="+mn-lt"/>
                <a:ea typeface="+mn-ea"/>
                <a:cs typeface="+mn-cs"/>
              </a:rPr>
              <a:t> In 2021, the latest year for which data is available for international comparison, U.S. corporate tax revenues accounted for just 1.6 percent of gross domestic product (GDP).</a:t>
            </a:r>
          </a:p>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23</a:t>
            </a:fld>
            <a:endParaRPr lang="en-US"/>
          </a:p>
        </p:txBody>
      </p:sp>
    </p:spTree>
    <p:extLst>
      <p:ext uri="{BB962C8B-B14F-4D97-AF65-F5344CB8AC3E}">
        <p14:creationId xmlns:p14="http://schemas.microsoft.com/office/powerpoint/2010/main" val="4061110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After reaching its peak in the late 1960s, the statutory rate of the U.S. federal corporate tax has been on a decline.</a:t>
            </a:r>
            <a:r>
              <a:rPr lang="en-US" sz="1200" kern="1200" dirty="0">
                <a:solidFill>
                  <a:schemeClr val="tx1"/>
                </a:solidFill>
                <a:effectLst/>
                <a:latin typeface="+mn-lt"/>
                <a:ea typeface="+mn-ea"/>
                <a:cs typeface="+mn-cs"/>
              </a:rPr>
              <a:t> The current tax rate for corporations is less than half the size it was in the 1950s and 60s.</a:t>
            </a:r>
          </a:p>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24</a:t>
            </a:fld>
            <a:endParaRPr lang="en-US"/>
          </a:p>
        </p:txBody>
      </p:sp>
    </p:spTree>
    <p:extLst>
      <p:ext uri="{BB962C8B-B14F-4D97-AF65-F5344CB8AC3E}">
        <p14:creationId xmlns:p14="http://schemas.microsoft.com/office/powerpoint/2010/main" val="3078048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Not all businesses are taxed as corporations.</a:t>
            </a:r>
            <a:r>
              <a:rPr lang="en-US" sz="1200" kern="1200" dirty="0">
                <a:solidFill>
                  <a:schemeClr val="tx1"/>
                </a:solidFill>
                <a:effectLst/>
                <a:latin typeface="+mn-lt"/>
                <a:ea typeface="+mn-ea"/>
                <a:cs typeface="+mn-cs"/>
              </a:rPr>
              <a:t> Some businesses, known as </a:t>
            </a:r>
            <a:r>
              <a:rPr lang="en-US" sz="1200" u="sng" kern="1200" dirty="0">
                <a:solidFill>
                  <a:schemeClr val="tx1"/>
                </a:solidFill>
                <a:effectLst/>
                <a:latin typeface="+mn-lt"/>
                <a:ea typeface="+mn-ea"/>
                <a:cs typeface="+mn-cs"/>
                <a:hlinkClick r:id="rId4"/>
              </a:rPr>
              <a:t>pass-through entities</a:t>
            </a:r>
            <a:r>
              <a:rPr lang="en-US" sz="1200" kern="1200" dirty="0">
                <a:solidFill>
                  <a:schemeClr val="tx1"/>
                </a:solidFill>
                <a:effectLst/>
                <a:latin typeface="+mn-lt"/>
                <a:ea typeface="+mn-ea"/>
                <a:cs typeface="+mn-cs"/>
              </a:rPr>
              <a:t>, allocate profits to their owners who then pay taxes on those profits through the individual income tax code. In addition, since the enactment of the TCJA, eligible business owners qualify for a tax deduction of up to 20 percent of their qualified business income. Pass-through entities have accounted for </a:t>
            </a:r>
            <a:r>
              <a:rPr lang="en-US" sz="1200" u="sng" kern="1200" dirty="0">
                <a:solidFill>
                  <a:schemeClr val="tx1"/>
                </a:solidFill>
                <a:effectLst/>
                <a:latin typeface="+mn-lt"/>
                <a:ea typeface="+mn-ea"/>
                <a:cs typeface="+mn-cs"/>
                <a:hlinkClick r:id="rId5"/>
              </a:rPr>
              <a:t>an increasing share of net business income</a:t>
            </a:r>
            <a:r>
              <a:rPr lang="en-US" sz="1200" kern="1200" dirty="0">
                <a:solidFill>
                  <a:schemeClr val="tx1"/>
                </a:solidFill>
                <a:effectLst/>
                <a:latin typeface="+mn-lt"/>
                <a:ea typeface="+mn-ea"/>
                <a:cs typeface="+mn-cs"/>
              </a:rPr>
              <a:t> over the past few decades.</a:t>
            </a:r>
          </a:p>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25</a:t>
            </a:fld>
            <a:endParaRPr lang="en-US"/>
          </a:p>
        </p:txBody>
      </p:sp>
    </p:spTree>
    <p:extLst>
      <p:ext uri="{BB962C8B-B14F-4D97-AF65-F5344CB8AC3E}">
        <p14:creationId xmlns:p14="http://schemas.microsoft.com/office/powerpoint/2010/main" val="3004864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After reaching its peak in the late 1960s, the statutory rate of the U.S. federal corporate tax has been on a decline.</a:t>
            </a:r>
            <a:r>
              <a:rPr lang="en-US" sz="1200" kern="1200" dirty="0">
                <a:solidFill>
                  <a:schemeClr val="tx1"/>
                </a:solidFill>
                <a:effectLst/>
                <a:latin typeface="+mn-lt"/>
                <a:ea typeface="+mn-ea"/>
                <a:cs typeface="+mn-cs"/>
              </a:rPr>
              <a:t> The current tax rate for corporations is less than half the size it was in the 1950s and 60s.</a:t>
            </a:r>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26</a:t>
            </a:fld>
            <a:endParaRPr lang="en-US"/>
          </a:p>
        </p:txBody>
      </p:sp>
    </p:spTree>
    <p:extLst>
      <p:ext uri="{BB962C8B-B14F-4D97-AF65-F5344CB8AC3E}">
        <p14:creationId xmlns:p14="http://schemas.microsoft.com/office/powerpoint/2010/main" val="3411920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Revenues from corporate taxes have generally been declining as a share of GDP</a:t>
            </a:r>
            <a:r>
              <a:rPr lang="en-US" sz="1200" kern="1200" dirty="0">
                <a:solidFill>
                  <a:schemeClr val="tx1"/>
                </a:solidFill>
                <a:effectLst/>
                <a:latin typeface="+mn-lt"/>
                <a:ea typeface="+mn-ea"/>
                <a:cs typeface="+mn-cs"/>
              </a:rPr>
              <a:t>, in part as a result of lower tax rates and </a:t>
            </a:r>
            <a:r>
              <a:rPr lang="en-US" sz="1200" u="sng" kern="1200" dirty="0">
                <a:solidFill>
                  <a:schemeClr val="tx1"/>
                </a:solidFill>
                <a:effectLst/>
                <a:latin typeface="+mn-lt"/>
                <a:ea typeface="+mn-ea"/>
                <a:cs typeface="+mn-cs"/>
                <a:hlinkClick r:id="rId4"/>
              </a:rPr>
              <a:t>the increase in the prevalence of pass-through businesses</a:t>
            </a:r>
            <a:r>
              <a:rPr lang="en-US" sz="1200" kern="1200" dirty="0">
                <a:solidFill>
                  <a:schemeClr val="tx1"/>
                </a:solidFill>
                <a:effectLst/>
                <a:latin typeface="+mn-lt"/>
                <a:ea typeface="+mn-ea"/>
                <a:cs typeface="+mn-cs"/>
              </a:rPr>
              <a:t>.</a:t>
            </a:r>
          </a:p>
          <a:p>
            <a:r>
              <a:rPr lang="en-US" sz="1200" u="sng" kern="1200" dirty="0">
                <a:solidFill>
                  <a:schemeClr val="tx1"/>
                </a:solidFill>
                <a:effectLst/>
                <a:latin typeface="+mn-lt"/>
                <a:ea typeface="+mn-ea"/>
                <a:cs typeface="+mn-cs"/>
                <a:hlinkClick r:id="rId5"/>
              </a:rPr>
              <a:t>entities mentioned above</a:t>
            </a:r>
            <a:r>
              <a:rPr lang="en-US" sz="1200" kern="1200" dirty="0">
                <a:solidFill>
                  <a:schemeClr val="tx1"/>
                </a:solidFill>
                <a:effectLst/>
                <a:latin typeface="+mn-lt"/>
                <a:ea typeface="+mn-ea"/>
                <a:cs typeface="+mn-cs"/>
              </a:rPr>
              <a:t>.</a:t>
            </a:r>
          </a:p>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27</a:t>
            </a:fld>
            <a:endParaRPr lang="en-US"/>
          </a:p>
        </p:txBody>
      </p:sp>
    </p:spTree>
    <p:extLst>
      <p:ext uri="{BB962C8B-B14F-4D97-AF65-F5344CB8AC3E}">
        <p14:creationId xmlns:p14="http://schemas.microsoft.com/office/powerpoint/2010/main" val="2902675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a:solidFill>
                  <a:schemeClr val="tx1"/>
                </a:solidFill>
                <a:effectLst/>
                <a:latin typeface="+mn-lt"/>
                <a:ea typeface="+mn-ea"/>
                <a:cs typeface="+mn-cs"/>
              </a:rPr>
              <a:t>Compared to historical trends and other advanced economies, corporate tax revenues in the United States are low. President Biden recently proposed substantial changes to the U.S. corporate income tax system, such as increasing the corporate tax rate, as potential ways to </a:t>
            </a:r>
            <a:r>
              <a:rPr lang="en-US" sz="1200" u="sng" kern="1200" dirty="0">
                <a:solidFill>
                  <a:schemeClr val="tx1"/>
                </a:solidFill>
                <a:effectLst/>
                <a:latin typeface="+mn-lt"/>
                <a:ea typeface="+mn-ea"/>
                <a:cs typeface="+mn-cs"/>
                <a:hlinkClick r:id="rId3"/>
              </a:rPr>
              <a:t>reduce the structural imbalance between spending and revenues</a:t>
            </a:r>
            <a:r>
              <a:rPr lang="en-US" sz="1200" kern="1200" dirty="0">
                <a:solidFill>
                  <a:schemeClr val="tx1"/>
                </a:solidFill>
                <a:effectLst/>
                <a:latin typeface="+mn-lt"/>
                <a:ea typeface="+mn-ea"/>
                <a:cs typeface="+mn-cs"/>
              </a:rPr>
              <a:t>. Below are charts that focus specifically the current state of our corporate income tax system, examining and illustrating reasons for the downward trend.</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United States will forgo $161 billion of revenues in 2023 as a result of </a:t>
            </a:r>
            <a:r>
              <a:rPr lang="en-US" sz="1200" b="1" u="sng" kern="1200" dirty="0">
                <a:solidFill>
                  <a:schemeClr val="tx1"/>
                </a:solidFill>
                <a:effectLst/>
                <a:latin typeface="+mn-lt"/>
                <a:ea typeface="+mn-ea"/>
                <a:cs typeface="+mn-cs"/>
                <a:hlinkClick r:id="rId4"/>
              </a:rPr>
              <a:t>tax expenditures</a:t>
            </a:r>
            <a:r>
              <a:rPr lang="en-US" sz="1200" b="1" kern="1200" dirty="0">
                <a:solidFill>
                  <a:schemeClr val="tx1"/>
                </a:solidFill>
                <a:effectLst/>
                <a:latin typeface="+mn-lt"/>
                <a:ea typeface="+mn-ea"/>
                <a:cs typeface="+mn-cs"/>
              </a:rPr>
              <a:t>, or special tax code provisions, for corporations. </a:t>
            </a:r>
            <a:r>
              <a:rPr lang="en-US" sz="1200" kern="1200" dirty="0">
                <a:solidFill>
                  <a:schemeClr val="tx1"/>
                </a:solidFill>
                <a:effectLst/>
                <a:latin typeface="+mn-lt"/>
                <a:ea typeface="+mn-ea"/>
                <a:cs typeface="+mn-cs"/>
              </a:rPr>
              <a:t>Those tax expenditures include </a:t>
            </a:r>
            <a:r>
              <a:rPr lang="en-US" sz="1200" u="sng" kern="1200" dirty="0">
                <a:solidFill>
                  <a:schemeClr val="tx1"/>
                </a:solidFill>
                <a:effectLst/>
                <a:latin typeface="+mn-lt"/>
                <a:ea typeface="+mn-ea"/>
                <a:cs typeface="+mn-cs"/>
                <a:hlinkClick r:id="rId5"/>
              </a:rPr>
              <a:t>reduced tax rates for income from a corporation’s foreign subsidiaries, as well as the tax deduction for pass-through entities mentioned above</a:t>
            </a:r>
            <a:r>
              <a:rPr lang="en-US" sz="1200" kern="1200" dirty="0">
                <a:solidFill>
                  <a:schemeClr val="tx1"/>
                </a:solidFill>
                <a:effectLst/>
                <a:latin typeface="+mn-lt"/>
                <a:ea typeface="+mn-ea"/>
                <a:cs typeface="+mn-cs"/>
              </a:rPr>
              <a:t>.</a:t>
            </a:r>
          </a:p>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28</a:t>
            </a:fld>
            <a:endParaRPr lang="en-US"/>
          </a:p>
        </p:txBody>
      </p:sp>
    </p:spTree>
    <p:extLst>
      <p:ext uri="{BB962C8B-B14F-4D97-AF65-F5344CB8AC3E}">
        <p14:creationId xmlns:p14="http://schemas.microsoft.com/office/powerpoint/2010/main" val="1648112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32</a:t>
            </a:fld>
            <a:endParaRPr lang="en-US"/>
          </a:p>
        </p:txBody>
      </p:sp>
    </p:spTree>
    <p:extLst>
      <p:ext uri="{BB962C8B-B14F-4D97-AF65-F5344CB8AC3E}">
        <p14:creationId xmlns:p14="http://schemas.microsoft.com/office/powerpoint/2010/main" val="1382174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35</a:t>
            </a:fld>
            <a:endParaRPr lang="en-US"/>
          </a:p>
        </p:txBody>
      </p:sp>
    </p:spTree>
    <p:extLst>
      <p:ext uri="{BB962C8B-B14F-4D97-AF65-F5344CB8AC3E}">
        <p14:creationId xmlns:p14="http://schemas.microsoft.com/office/powerpoint/2010/main" val="1169735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5F7953AC-93C2-44BB-8449-F1935CDFA9AA}" type="slidenum">
              <a:rPr lang="en-US" smtClean="0"/>
              <a:t>37</a:t>
            </a:fld>
            <a:endParaRPr lang="en-US"/>
          </a:p>
        </p:txBody>
      </p:sp>
    </p:spTree>
    <p:extLst>
      <p:ext uri="{BB962C8B-B14F-4D97-AF65-F5344CB8AC3E}">
        <p14:creationId xmlns:p14="http://schemas.microsoft.com/office/powerpoint/2010/main" val="1694058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p:cNvSpPr>
            <a:spLocks noGrp="1"/>
          </p:cNvSpPr>
          <p:nvPr>
            <p:ph type="dt" sz="half" idx="10"/>
          </p:nvPr>
        </p:nvSpPr>
        <p:spPr/>
        <p:txBody>
          <a:bodyPr/>
          <a:lstStyle/>
          <a:p>
            <a:fld id="{A1CE0009-8C17-4963-8229-D5040318D819}" type="datetimeFigureOut">
              <a:rPr lang="en-US" smtClean="0"/>
              <a:t>11/21/2023</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4094154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A1CE0009-8C17-4963-8229-D5040318D819}" type="datetimeFigureOut">
              <a:rPr lang="en-US" smtClean="0"/>
              <a:t>11/21/2023</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405465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A1CE0009-8C17-4963-8229-D5040318D819}" type="datetimeFigureOut">
              <a:rPr lang="en-US" smtClean="0"/>
              <a:t>11/21/2023</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3183787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p:cNvSpPr>
            <a:spLocks noGrp="1"/>
          </p:cNvSpPr>
          <p:nvPr>
            <p:ph type="dt" sz="half" idx="10"/>
          </p:nvPr>
        </p:nvSpPr>
        <p:spPr/>
        <p:txBody>
          <a:bodyPr/>
          <a:lstStyle/>
          <a:p>
            <a:fld id="{A1CE0009-8C17-4963-8229-D5040318D819}" type="datetimeFigureOut">
              <a:rPr lang="en-US" smtClean="0"/>
              <a:t>11/21/2023</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71771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p:cNvSpPr>
            <a:spLocks noGrp="1"/>
          </p:cNvSpPr>
          <p:nvPr>
            <p:ph type="dt" sz="half" idx="10"/>
          </p:nvPr>
        </p:nvSpPr>
        <p:spPr/>
        <p:txBody>
          <a:bodyPr/>
          <a:lstStyle/>
          <a:p>
            <a:fld id="{A1CE0009-8C17-4963-8229-D5040318D819}" type="datetimeFigureOut">
              <a:rPr lang="en-US" smtClean="0"/>
              <a:t>11/21/2023</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1373690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2"/>
          <p:cNvSpPr>
            <a:spLocks noGrp="1"/>
          </p:cNvSpPr>
          <p:nvPr>
            <p:ph type="dt" sz="half" idx="10"/>
          </p:nvPr>
        </p:nvSpPr>
        <p:spPr/>
        <p:txBody>
          <a:bodyPr/>
          <a:lstStyle/>
          <a:p>
            <a:fld id="{A1CE0009-8C17-4963-8229-D5040318D819}" type="datetimeFigureOut">
              <a:rPr lang="en-US" smtClean="0"/>
              <a:t>11/21/2023</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1599838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1CE0009-8C17-4963-8229-D5040318D819}" type="datetimeFigureOut">
              <a:rPr lang="en-US" smtClean="0"/>
              <a:t>11/21/2023</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4069796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A1CE0009-8C17-4963-8229-D5040318D819}" type="datetimeFigureOut">
              <a:rPr lang="en-US" smtClean="0"/>
              <a:t>11/21/2023</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193747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A1CE0009-8C17-4963-8229-D5040318D819}" type="datetimeFigureOut">
              <a:rPr lang="en-US" smtClean="0"/>
              <a:t>11/21/2023</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4102999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A1CE0009-8C17-4963-8229-D5040318D819}" type="datetimeFigureOut">
              <a:rPr lang="en-US" smtClean="0"/>
              <a:t>11/21/2023</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2546742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A1CE0009-8C17-4963-8229-D5040318D819}" type="datetimeFigureOut">
              <a:rPr lang="en-US" smtClean="0"/>
              <a:t>11/21/2023</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6CB2C6D1-ACB2-4323-B792-D2D8BCDF8BBF}" type="slidenum">
              <a:rPr lang="en-US" smtClean="0"/>
              <a:t>‹N°›</a:t>
            </a:fld>
            <a:endParaRPr lang="en-US"/>
          </a:p>
        </p:txBody>
      </p:sp>
    </p:spTree>
    <p:extLst>
      <p:ext uri="{BB962C8B-B14F-4D97-AF65-F5344CB8AC3E}">
        <p14:creationId xmlns:p14="http://schemas.microsoft.com/office/powerpoint/2010/main" val="414056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CE0009-8C17-4963-8229-D5040318D819}" type="datetimeFigureOut">
              <a:rPr lang="en-US" smtClean="0"/>
              <a:t>11/21/2023</a:t>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2C6D1-ACB2-4323-B792-D2D8BCDF8BBF}" type="slidenum">
              <a:rPr lang="en-US" smtClean="0"/>
              <a:t>‹N°›</a:t>
            </a:fld>
            <a:endParaRPr lang="en-US"/>
          </a:p>
        </p:txBody>
      </p:sp>
    </p:spTree>
    <p:extLst>
      <p:ext uri="{BB962C8B-B14F-4D97-AF65-F5344CB8AC3E}">
        <p14:creationId xmlns:p14="http://schemas.microsoft.com/office/powerpoint/2010/main" val="428848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tatista.com/chart/25936/number-of-parcels-shipped-worldwide/?fbclid=IwAR3UYDhhTJgtxeEeasVOyWX-3gt1U8PD4ulxQaauHM_gvNR2EayC1zQDpR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tatista.com/chart/28414/important-shipping-criteria-to-us-online-shopper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statista.com/chart/29109/share-of-people-that-would-try-delivery-dron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statista.com/chart/17021/number-of-countries-using-dron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commercedb.com/insights/chart/1143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mmercedb.com/insights/chart/11429"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commercedb.com/insights/chart/1141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mmercedb.com/insights/chart/11409"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ecommercedb.com/insights/chart/11406"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ecommercedb.com/reports/ecommerce-payment-provider-paypal/38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ecommercedb.com/reports/ecommerce-payment-provider-paypal/38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ecommercedb.com/reports/ecommerce-payment-provider-paypal/38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ecommercedb.com/reports/ecommerce-payment-provider-visa/38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ecommercedb.com/reports/ecommerce-payment-provider-visa/389"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ecommercedb.com/reports/ecommerce-payment-provider-visa/389"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ecommercedb.com/reports/ecommerce-payment-provider-visa/389"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statista.com/statistics/268225/countries-with-the-highest-inflation-rat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statista.com/statistics/191077/inflation-rate-in-the-usa-since-199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statista.com/statistics/273418/unadjusted-monthly-inflation-rate-in-the-u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statista.com/statistics/244983/projected-inflation-rate-in-the-united-state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5.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6.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7.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hyperlink" Target="https://www.pgpf.org/blog/2023/04/six-charts-that-show-how-low-corporate-tax-revenues-are-in-the-united-states-right-now?fbclid=IwAR2qr-w1VUVGWE0S3Z_yf6L-Lf1jH0Nd75kiRGc2CF2PGLGxVPgEA1HiDF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ourworldindata.org/artificial-intelligence?fbclid=IwAR09fwU6mI9MwxRXQKtVzA0X2SnfnHMyPqkcKGJeH-pqn23iuXxGovuhFGI"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ourworldindata.org/artificial-intelligence?fbclid=IwAR09fwU6mI9MwxRXQKtVzA0X2SnfnHMyPqkcKGJeH-pqn23iuXxGovuhFGI"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ourworldindata.org/artificial-intelligence?fbclid=IwAR09fwU6mI9MwxRXQKtVzA0X2SnfnHMyPqkcKGJeH-pqn23iuXxGovuhFGI"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ourworldindata.org/artificial-intelligence?fbclid=IwAR09fwU6mI9MwxRXQKtVzA0X2SnfnHMyPqkcKGJeH-pqn23iuXxGovuhFGI"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ourworldindata.org/artificial-intelligence?fbclid=IwAR09fwU6mI9MwxRXQKtVzA0X2SnfnHMyPqkcKGJeH-pqn23iuXxGovuhFGI"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ourworldindata.org/artificial-intelligence?fbclid=IwAR09fwU6mI9MwxRXQKtVzA0X2SnfnHMyPqkcKGJeH-pqn23iuXxGovuhFGI"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ourworldindata.org/artificial-intelligence?fbclid=IwAR09fwU6mI9MwxRXQKtVzA0X2SnfnHMyPqkcKGJeH-pqn23iuXxGovuhFGI"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astoncarter.com/en/insights/articles/top-accounting-and-finance-hiring-trends-in-2023?fbclid=IwAR1okObjxtmHQCCz8pfhuR8cZKTbPLSzz0Lsg9jYYJhXeuF_lRCi6WbF8ug"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astoncarter.com/en/insights/articles/top-accounting-and-finance-hiring-trends-in-2023?fbclid=IwAR1okObjxtmHQCCz8pfhuR8cZKTbPLSzz0Lsg9jYYJhXeuF_lRCi6WbF8u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0" y="1"/>
            <a:ext cx="12192000" cy="1842448"/>
          </a:xfrm>
        </p:spPr>
        <p:txBody>
          <a:bodyPr>
            <a:noAutofit/>
          </a:bodyPr>
          <a:lstStyle/>
          <a:p>
            <a:br>
              <a:rPr lang="en-US" sz="9600" dirty="0">
                <a:latin typeface="Optima"/>
              </a:rPr>
            </a:br>
            <a:r>
              <a:rPr lang="en-US" sz="9600" b="1" dirty="0">
                <a:latin typeface="Optima"/>
              </a:rPr>
              <a:t>Graphs to Interpret</a:t>
            </a:r>
          </a:p>
        </p:txBody>
      </p:sp>
      <p:sp>
        <p:nvSpPr>
          <p:cNvPr id="3" name="Sous-titre 2"/>
          <p:cNvSpPr>
            <a:spLocks noGrp="1"/>
          </p:cNvSpPr>
          <p:nvPr>
            <p:ph type="subTitle" idx="1"/>
          </p:nvPr>
        </p:nvSpPr>
        <p:spPr>
          <a:xfrm>
            <a:off x="0" y="1842449"/>
            <a:ext cx="12192000" cy="5029199"/>
          </a:xfrm>
        </p:spPr>
        <p:txBody>
          <a:bodyPr>
            <a:normAutofit fontScale="55000" lnSpcReduction="20000"/>
          </a:bodyPr>
          <a:lstStyle/>
          <a:p>
            <a:endParaRPr lang="en-US" sz="5400" b="1" dirty="0">
              <a:latin typeface="Optimq"/>
            </a:endParaRPr>
          </a:p>
          <a:p>
            <a:r>
              <a:rPr lang="en-US" sz="9800" b="1" dirty="0">
                <a:latin typeface="Optimq"/>
              </a:rPr>
              <a:t>FSEGT - 1MA</a:t>
            </a:r>
          </a:p>
          <a:p>
            <a:endParaRPr lang="en-US" sz="5400" b="1" dirty="0">
              <a:latin typeface="Optimq"/>
            </a:endParaRPr>
          </a:p>
          <a:p>
            <a:endParaRPr lang="en-US" sz="5400" b="1" dirty="0">
              <a:latin typeface="Optimq"/>
            </a:endParaRPr>
          </a:p>
          <a:p>
            <a:endParaRPr lang="en-US" sz="5400" b="1" dirty="0">
              <a:latin typeface="Optimq"/>
            </a:endParaRPr>
          </a:p>
          <a:p>
            <a:endParaRPr lang="en-US" sz="5400" b="1" dirty="0">
              <a:latin typeface="Optimq"/>
            </a:endParaRPr>
          </a:p>
          <a:p>
            <a:endParaRPr lang="en-US" sz="5400" b="1" dirty="0">
              <a:latin typeface="Optimq"/>
            </a:endParaRPr>
          </a:p>
          <a:p>
            <a:endParaRPr lang="en-US" sz="5400" b="1" dirty="0">
              <a:latin typeface="Optimq"/>
            </a:endParaRPr>
          </a:p>
          <a:p>
            <a:endParaRPr lang="en-US" sz="5400" b="1" dirty="0">
              <a:latin typeface="Optimq"/>
            </a:endParaRPr>
          </a:p>
          <a:p>
            <a:r>
              <a:rPr lang="en-US" sz="5400" b="1" dirty="0">
                <a:latin typeface="Optimq"/>
              </a:rPr>
              <a:t> </a:t>
            </a:r>
          </a:p>
        </p:txBody>
      </p:sp>
      <p:pic>
        <p:nvPicPr>
          <p:cNvPr id="7" name="Image 6"/>
          <p:cNvPicPr>
            <a:picLocks noChangeAspect="1"/>
          </p:cNvPicPr>
          <p:nvPr/>
        </p:nvPicPr>
        <p:blipFill>
          <a:blip r:embed="rId2"/>
          <a:stretch>
            <a:fillRect/>
          </a:stretch>
        </p:blipFill>
        <p:spPr>
          <a:xfrm>
            <a:off x="4722481" y="3302758"/>
            <a:ext cx="3133725" cy="3228975"/>
          </a:xfrm>
          <a:prstGeom prst="rect">
            <a:avLst/>
          </a:prstGeom>
        </p:spPr>
      </p:pic>
    </p:spTree>
    <p:extLst>
      <p:ext uri="{BB962C8B-B14F-4D97-AF65-F5344CB8AC3E}">
        <p14:creationId xmlns:p14="http://schemas.microsoft.com/office/powerpoint/2010/main" val="323200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64009"/>
            <a:ext cx="10515600" cy="685800"/>
          </a:xfrm>
        </p:spPr>
        <p:txBody>
          <a:bodyPr>
            <a:normAutofit fontScale="90000"/>
          </a:bodyPr>
          <a:lstStyle/>
          <a:p>
            <a:br>
              <a:rPr lang="en-US" sz="2200" u="sng" dirty="0">
                <a:hlinkClick r:id="rId2"/>
              </a:rPr>
            </a:br>
            <a:br>
              <a:rPr lang="en-US" sz="2200" u="sng" dirty="0">
                <a:hlinkClick r:id="rId2"/>
              </a:rPr>
            </a:br>
            <a:r>
              <a:rPr lang="en-US" sz="2200" u="sng" dirty="0">
                <a:hlinkClick r:id="rId2"/>
              </a:rPr>
              <a:t>https://www.statista.com/chart/25936/number-of-parcels-shipped-worldwide/?fbclid=IwAR3UYDhhTJgtxeEeasVOyWX-3gt1U8PD4ulxQaauHM_gvNR2EayC1zQDpRs</a:t>
            </a:r>
            <a:br>
              <a:rPr lang="en-US" dirty="0"/>
            </a:br>
            <a:endParaRPr lang="en-US" dirty="0"/>
          </a:p>
        </p:txBody>
      </p:sp>
      <p:pic>
        <p:nvPicPr>
          <p:cNvPr id="4" name="Image 3"/>
          <p:cNvPicPr>
            <a:picLocks noChangeAspect="1"/>
          </p:cNvPicPr>
          <p:nvPr/>
        </p:nvPicPr>
        <p:blipFill>
          <a:blip r:embed="rId3"/>
          <a:stretch>
            <a:fillRect/>
          </a:stretch>
        </p:blipFill>
        <p:spPr>
          <a:xfrm>
            <a:off x="1965960" y="859536"/>
            <a:ext cx="8366760" cy="5998464"/>
          </a:xfrm>
          <a:prstGeom prst="rect">
            <a:avLst/>
          </a:prstGeom>
        </p:spPr>
      </p:pic>
    </p:spTree>
    <p:extLst>
      <p:ext uri="{BB962C8B-B14F-4D97-AF65-F5344CB8AC3E}">
        <p14:creationId xmlns:p14="http://schemas.microsoft.com/office/powerpoint/2010/main" val="3736841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94995"/>
          </a:xfrm>
        </p:spPr>
        <p:txBody>
          <a:bodyPr>
            <a:normAutofit/>
          </a:bodyPr>
          <a:lstStyle/>
          <a:p>
            <a:r>
              <a:rPr lang="en-US" sz="2000" u="sng" dirty="0">
                <a:hlinkClick r:id="rId2"/>
              </a:rPr>
              <a:t>https://www.statista.com/chart/28414/important-shipping-criteria-to-us-online-shoppers/</a:t>
            </a:r>
            <a:endParaRPr lang="en-US" sz="2000" dirty="0"/>
          </a:p>
        </p:txBody>
      </p:sp>
      <p:pic>
        <p:nvPicPr>
          <p:cNvPr id="4" name="Image 3"/>
          <p:cNvPicPr>
            <a:picLocks noChangeAspect="1"/>
          </p:cNvPicPr>
          <p:nvPr/>
        </p:nvPicPr>
        <p:blipFill>
          <a:blip r:embed="rId3"/>
          <a:stretch>
            <a:fillRect/>
          </a:stretch>
        </p:blipFill>
        <p:spPr>
          <a:xfrm>
            <a:off x="1642872" y="1051560"/>
            <a:ext cx="8653272" cy="5806440"/>
          </a:xfrm>
          <a:prstGeom prst="rect">
            <a:avLst/>
          </a:prstGeom>
        </p:spPr>
      </p:pic>
    </p:spTree>
    <p:extLst>
      <p:ext uri="{BB962C8B-B14F-4D97-AF65-F5344CB8AC3E}">
        <p14:creationId xmlns:p14="http://schemas.microsoft.com/office/powerpoint/2010/main" val="4215386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49275"/>
          </a:xfrm>
        </p:spPr>
        <p:txBody>
          <a:bodyPr>
            <a:normAutofit fontScale="90000"/>
          </a:bodyPr>
          <a:lstStyle/>
          <a:p>
            <a:br>
              <a:rPr lang="en-US" sz="2200" u="sng" dirty="0">
                <a:hlinkClick r:id="rId2"/>
              </a:rPr>
            </a:br>
            <a:br>
              <a:rPr lang="en-US" sz="2200" u="sng" dirty="0">
                <a:hlinkClick r:id="rId2"/>
              </a:rPr>
            </a:br>
            <a:r>
              <a:rPr lang="en-US" sz="2200" u="sng" dirty="0">
                <a:hlinkClick r:id="rId2"/>
              </a:rPr>
              <a:t>https://www.statista.com/chart/29109/share-of-people-that-would-try-delivery-drones/</a:t>
            </a:r>
            <a:br>
              <a:rPr lang="en-US" dirty="0"/>
            </a:br>
            <a:endParaRPr lang="en-US" dirty="0"/>
          </a:p>
        </p:txBody>
      </p:sp>
      <p:pic>
        <p:nvPicPr>
          <p:cNvPr id="4" name="Image 3"/>
          <p:cNvPicPr>
            <a:picLocks noChangeAspect="1"/>
          </p:cNvPicPr>
          <p:nvPr/>
        </p:nvPicPr>
        <p:blipFill>
          <a:blip r:embed="rId3"/>
          <a:stretch>
            <a:fillRect/>
          </a:stretch>
        </p:blipFill>
        <p:spPr>
          <a:xfrm>
            <a:off x="1481328" y="914400"/>
            <a:ext cx="8942832" cy="5952744"/>
          </a:xfrm>
          <a:prstGeom prst="rect">
            <a:avLst/>
          </a:prstGeom>
        </p:spPr>
      </p:pic>
    </p:spTree>
    <p:extLst>
      <p:ext uri="{BB962C8B-B14F-4D97-AF65-F5344CB8AC3E}">
        <p14:creationId xmlns:p14="http://schemas.microsoft.com/office/powerpoint/2010/main" val="3467294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30987"/>
          </a:xfrm>
        </p:spPr>
        <p:txBody>
          <a:bodyPr>
            <a:normAutofit/>
          </a:bodyPr>
          <a:lstStyle/>
          <a:p>
            <a:r>
              <a:rPr lang="en-US" sz="2000" u="sng" dirty="0">
                <a:hlinkClick r:id="rId2"/>
              </a:rPr>
              <a:t>https://www.statista.com/chart/17021/number-of-countries-using-drones/</a:t>
            </a:r>
            <a:endParaRPr lang="en-US" sz="2000" dirty="0"/>
          </a:p>
        </p:txBody>
      </p:sp>
      <p:pic>
        <p:nvPicPr>
          <p:cNvPr id="4" name="Image 3"/>
          <p:cNvPicPr>
            <a:picLocks noChangeAspect="1"/>
          </p:cNvPicPr>
          <p:nvPr/>
        </p:nvPicPr>
        <p:blipFill>
          <a:blip r:embed="rId3"/>
          <a:stretch>
            <a:fillRect/>
          </a:stretch>
        </p:blipFill>
        <p:spPr>
          <a:xfrm>
            <a:off x="1810512" y="987552"/>
            <a:ext cx="8119872" cy="5733288"/>
          </a:xfrm>
          <a:prstGeom prst="rect">
            <a:avLst/>
          </a:prstGeom>
        </p:spPr>
      </p:pic>
    </p:spTree>
    <p:extLst>
      <p:ext uri="{BB962C8B-B14F-4D97-AF65-F5344CB8AC3E}">
        <p14:creationId xmlns:p14="http://schemas.microsoft.com/office/powerpoint/2010/main" val="1409372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83336" y="246253"/>
            <a:ext cx="10515600" cy="549275"/>
          </a:xfrm>
        </p:spPr>
        <p:txBody>
          <a:bodyPr>
            <a:normAutofit/>
          </a:bodyPr>
          <a:lstStyle/>
          <a:p>
            <a:r>
              <a:rPr lang="en-US" sz="2000" u="sng" dirty="0">
                <a:hlinkClick r:id="rId2"/>
              </a:rPr>
              <a:t>https://ecommercedb.com/insights/chart/11431</a:t>
            </a:r>
            <a:endParaRPr lang="en-US" sz="2000" dirty="0"/>
          </a:p>
        </p:txBody>
      </p:sp>
      <p:pic>
        <p:nvPicPr>
          <p:cNvPr id="4" name="Image 3"/>
          <p:cNvPicPr>
            <a:picLocks noChangeAspect="1"/>
          </p:cNvPicPr>
          <p:nvPr/>
        </p:nvPicPr>
        <p:blipFill>
          <a:blip r:embed="rId3"/>
          <a:stretch>
            <a:fillRect/>
          </a:stretch>
        </p:blipFill>
        <p:spPr>
          <a:xfrm>
            <a:off x="1664208" y="795528"/>
            <a:ext cx="8577072" cy="5916739"/>
          </a:xfrm>
          <a:prstGeom prst="rect">
            <a:avLst/>
          </a:prstGeom>
        </p:spPr>
      </p:pic>
    </p:spTree>
    <p:extLst>
      <p:ext uri="{BB962C8B-B14F-4D97-AF65-F5344CB8AC3E}">
        <p14:creationId xmlns:p14="http://schemas.microsoft.com/office/powerpoint/2010/main" val="2755566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384683"/>
          </a:xfrm>
        </p:spPr>
        <p:txBody>
          <a:bodyPr>
            <a:normAutofit/>
          </a:bodyPr>
          <a:lstStyle/>
          <a:p>
            <a:r>
              <a:rPr lang="en-US" sz="2000" u="sng" dirty="0">
                <a:hlinkClick r:id="rId2"/>
              </a:rPr>
              <a:t>https://ecommercedb.com/insights/chart/11429</a:t>
            </a:r>
            <a:endParaRPr lang="en-US" sz="2000" dirty="0"/>
          </a:p>
        </p:txBody>
      </p:sp>
      <p:pic>
        <p:nvPicPr>
          <p:cNvPr id="5" name="Image 4"/>
          <p:cNvPicPr>
            <a:picLocks noChangeAspect="1"/>
          </p:cNvPicPr>
          <p:nvPr/>
        </p:nvPicPr>
        <p:blipFill>
          <a:blip r:embed="rId3"/>
          <a:stretch>
            <a:fillRect/>
          </a:stretch>
        </p:blipFill>
        <p:spPr>
          <a:xfrm>
            <a:off x="1161288" y="1009650"/>
            <a:ext cx="9518904" cy="5747766"/>
          </a:xfrm>
          <a:prstGeom prst="rect">
            <a:avLst/>
          </a:prstGeom>
        </p:spPr>
      </p:pic>
    </p:spTree>
    <p:extLst>
      <p:ext uri="{BB962C8B-B14F-4D97-AF65-F5344CB8AC3E}">
        <p14:creationId xmlns:p14="http://schemas.microsoft.com/office/powerpoint/2010/main" val="573435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12699"/>
          </a:xfrm>
        </p:spPr>
        <p:txBody>
          <a:bodyPr>
            <a:normAutofit fontScale="90000"/>
          </a:bodyPr>
          <a:lstStyle/>
          <a:p>
            <a:br>
              <a:rPr lang="en-US" sz="2200" u="sng" dirty="0">
                <a:hlinkClick r:id="rId2"/>
              </a:rPr>
            </a:br>
            <a:r>
              <a:rPr lang="en-US" sz="2200" u="sng" dirty="0">
                <a:hlinkClick r:id="rId2"/>
              </a:rPr>
              <a:t>https://ecommercedb.com/insights/chart/11412</a:t>
            </a:r>
            <a:br>
              <a:rPr lang="en-US" dirty="0"/>
            </a:br>
            <a:endParaRPr lang="en-US" dirty="0"/>
          </a:p>
        </p:txBody>
      </p:sp>
      <p:pic>
        <p:nvPicPr>
          <p:cNvPr id="4" name="Image 3"/>
          <p:cNvPicPr>
            <a:picLocks noChangeAspect="1"/>
          </p:cNvPicPr>
          <p:nvPr/>
        </p:nvPicPr>
        <p:blipFill>
          <a:blip r:embed="rId3"/>
          <a:stretch>
            <a:fillRect/>
          </a:stretch>
        </p:blipFill>
        <p:spPr>
          <a:xfrm>
            <a:off x="1453896" y="877824"/>
            <a:ext cx="9208008" cy="5888735"/>
          </a:xfrm>
          <a:prstGeom prst="rect">
            <a:avLst/>
          </a:prstGeom>
        </p:spPr>
      </p:pic>
    </p:spTree>
    <p:extLst>
      <p:ext uri="{BB962C8B-B14F-4D97-AF65-F5344CB8AC3E}">
        <p14:creationId xmlns:p14="http://schemas.microsoft.com/office/powerpoint/2010/main" val="348613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66979"/>
          </a:xfrm>
        </p:spPr>
        <p:txBody>
          <a:bodyPr>
            <a:normAutofit/>
          </a:bodyPr>
          <a:lstStyle/>
          <a:p>
            <a:r>
              <a:rPr lang="en-US" sz="2000" u="sng" dirty="0">
                <a:hlinkClick r:id="rId2"/>
              </a:rPr>
              <a:t>https://ecommercedb.com/insights/chart/11409</a:t>
            </a:r>
            <a:endParaRPr lang="en-US" sz="2000" dirty="0"/>
          </a:p>
        </p:txBody>
      </p:sp>
      <p:pic>
        <p:nvPicPr>
          <p:cNvPr id="4" name="Image 3"/>
          <p:cNvPicPr>
            <a:picLocks noChangeAspect="1"/>
          </p:cNvPicPr>
          <p:nvPr/>
        </p:nvPicPr>
        <p:blipFill>
          <a:blip r:embed="rId3"/>
          <a:stretch>
            <a:fillRect/>
          </a:stretch>
        </p:blipFill>
        <p:spPr>
          <a:xfrm>
            <a:off x="1234441" y="832104"/>
            <a:ext cx="9701784" cy="6025896"/>
          </a:xfrm>
          <a:prstGeom prst="rect">
            <a:avLst/>
          </a:prstGeom>
        </p:spPr>
      </p:pic>
    </p:spTree>
    <p:extLst>
      <p:ext uri="{BB962C8B-B14F-4D97-AF65-F5344CB8AC3E}">
        <p14:creationId xmlns:p14="http://schemas.microsoft.com/office/powerpoint/2010/main" val="401915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95579"/>
          </a:xfrm>
        </p:spPr>
        <p:txBody>
          <a:bodyPr>
            <a:normAutofit/>
          </a:bodyPr>
          <a:lstStyle/>
          <a:p>
            <a:r>
              <a:rPr lang="en-US" sz="2000" u="sng" dirty="0">
                <a:hlinkClick r:id="rId2"/>
              </a:rPr>
              <a:t>https://ecommercedb.com/insights/chart/11406</a:t>
            </a:r>
            <a:endParaRPr lang="en-US" sz="2000" dirty="0"/>
          </a:p>
        </p:txBody>
      </p:sp>
      <p:pic>
        <p:nvPicPr>
          <p:cNvPr id="4" name="Image 3"/>
          <p:cNvPicPr>
            <a:picLocks noChangeAspect="1"/>
          </p:cNvPicPr>
          <p:nvPr/>
        </p:nvPicPr>
        <p:blipFill>
          <a:blip r:embed="rId3"/>
          <a:stretch>
            <a:fillRect/>
          </a:stretch>
        </p:blipFill>
        <p:spPr>
          <a:xfrm>
            <a:off x="1051560" y="1133856"/>
            <a:ext cx="10094976" cy="5733289"/>
          </a:xfrm>
          <a:prstGeom prst="rect">
            <a:avLst/>
          </a:prstGeom>
        </p:spPr>
      </p:pic>
    </p:spTree>
    <p:extLst>
      <p:ext uri="{BB962C8B-B14F-4D97-AF65-F5344CB8AC3E}">
        <p14:creationId xmlns:p14="http://schemas.microsoft.com/office/powerpoint/2010/main" val="3455758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49275"/>
          </a:xfrm>
        </p:spPr>
        <p:txBody>
          <a:bodyPr>
            <a:normAutofit/>
          </a:bodyPr>
          <a:lstStyle/>
          <a:p>
            <a:r>
              <a:rPr lang="en-US" sz="2000" u="sng" dirty="0">
                <a:hlinkClick r:id="rId2"/>
              </a:rPr>
              <a:t>https://ecommercedb.com/reports/ecommerce-payment-provider-paypal/388</a:t>
            </a:r>
            <a:endParaRPr lang="en-US" sz="2000" dirty="0"/>
          </a:p>
        </p:txBody>
      </p:sp>
      <p:pic>
        <p:nvPicPr>
          <p:cNvPr id="4" name="Image 3"/>
          <p:cNvPicPr>
            <a:picLocks noChangeAspect="1"/>
          </p:cNvPicPr>
          <p:nvPr/>
        </p:nvPicPr>
        <p:blipFill>
          <a:blip r:embed="rId3"/>
          <a:stretch>
            <a:fillRect/>
          </a:stretch>
        </p:blipFill>
        <p:spPr>
          <a:xfrm>
            <a:off x="1389889" y="914400"/>
            <a:ext cx="9500616" cy="5943601"/>
          </a:xfrm>
          <a:prstGeom prst="rect">
            <a:avLst/>
          </a:prstGeom>
        </p:spPr>
      </p:pic>
    </p:spTree>
    <p:extLst>
      <p:ext uri="{BB962C8B-B14F-4D97-AF65-F5344CB8AC3E}">
        <p14:creationId xmlns:p14="http://schemas.microsoft.com/office/powerpoint/2010/main" val="949691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21843"/>
          </a:xfrm>
        </p:spPr>
        <p:txBody>
          <a:bodyPr>
            <a:normAutofit/>
          </a:bodyPr>
          <a:lstStyle/>
          <a:p>
            <a:r>
              <a:rPr lang="en-US" sz="2000" u="sng" dirty="0">
                <a:hlinkClick r:id="rId2"/>
              </a:rPr>
              <a:t>https://ecommercedb.com/reports/ecommerce-payment-provider-paypal/388</a:t>
            </a:r>
            <a:endParaRPr lang="en-US" sz="2000" dirty="0"/>
          </a:p>
        </p:txBody>
      </p:sp>
      <p:pic>
        <p:nvPicPr>
          <p:cNvPr id="5" name="Image 4" descr="ecommerceDB Infographic: Payment Providers_PayPal_2022_2.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886969"/>
            <a:ext cx="10515600" cy="5971032"/>
          </a:xfrm>
          <a:prstGeom prst="rect">
            <a:avLst/>
          </a:prstGeom>
          <a:noFill/>
          <a:ln>
            <a:noFill/>
          </a:ln>
        </p:spPr>
      </p:pic>
    </p:spTree>
    <p:extLst>
      <p:ext uri="{BB962C8B-B14F-4D97-AF65-F5344CB8AC3E}">
        <p14:creationId xmlns:p14="http://schemas.microsoft.com/office/powerpoint/2010/main" val="2188620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67563"/>
          </a:xfrm>
        </p:spPr>
        <p:txBody>
          <a:bodyPr>
            <a:normAutofit/>
          </a:bodyPr>
          <a:lstStyle/>
          <a:p>
            <a:r>
              <a:rPr lang="en-US" sz="2000" u="sng" dirty="0">
                <a:hlinkClick r:id="rId2"/>
              </a:rPr>
              <a:t>https://ecommercedb.com/reports/ecommerce-payment-provider-paypal/388</a:t>
            </a:r>
            <a:endParaRPr lang="en-US" sz="2000" dirty="0"/>
          </a:p>
        </p:txBody>
      </p:sp>
      <p:pic>
        <p:nvPicPr>
          <p:cNvPr id="6" name="Image 5" descr="ecommerceDB Infographic: Payment Providers_PayPal_2022_3.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996697"/>
            <a:ext cx="10360151" cy="5861304"/>
          </a:xfrm>
          <a:prstGeom prst="rect">
            <a:avLst/>
          </a:prstGeom>
          <a:noFill/>
          <a:ln>
            <a:noFill/>
          </a:ln>
        </p:spPr>
      </p:pic>
    </p:spTree>
    <p:extLst>
      <p:ext uri="{BB962C8B-B14F-4D97-AF65-F5344CB8AC3E}">
        <p14:creationId xmlns:p14="http://schemas.microsoft.com/office/powerpoint/2010/main" val="2593383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49275"/>
          </a:xfrm>
        </p:spPr>
        <p:txBody>
          <a:bodyPr>
            <a:normAutofit/>
          </a:bodyPr>
          <a:lstStyle/>
          <a:p>
            <a:r>
              <a:rPr lang="en-US" sz="2000" u="sng" dirty="0">
                <a:hlinkClick r:id="rId2"/>
              </a:rPr>
              <a:t>https://ecommercedb.com/reports/ecommerce-payment-provider-visa/389</a:t>
            </a:r>
            <a:endParaRPr lang="en-US" sz="2000" dirty="0"/>
          </a:p>
        </p:txBody>
      </p:sp>
      <p:pic>
        <p:nvPicPr>
          <p:cNvPr id="5" name="Image 4" descr="ecommerceDB Infographic: Payment Providers_Visa_2022_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987553"/>
            <a:ext cx="10515600" cy="5879592"/>
          </a:xfrm>
          <a:prstGeom prst="rect">
            <a:avLst/>
          </a:prstGeom>
          <a:noFill/>
          <a:ln>
            <a:noFill/>
          </a:ln>
        </p:spPr>
      </p:pic>
    </p:spTree>
    <p:extLst>
      <p:ext uri="{BB962C8B-B14F-4D97-AF65-F5344CB8AC3E}">
        <p14:creationId xmlns:p14="http://schemas.microsoft.com/office/powerpoint/2010/main" val="1570900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03555"/>
          </a:xfrm>
        </p:spPr>
        <p:txBody>
          <a:bodyPr>
            <a:normAutofit fontScale="90000"/>
          </a:bodyPr>
          <a:lstStyle/>
          <a:p>
            <a:br>
              <a:rPr lang="en-US" sz="2200" u="sng" dirty="0">
                <a:hlinkClick r:id="rId2"/>
              </a:rPr>
            </a:br>
            <a:br>
              <a:rPr lang="en-US" sz="2200" u="sng" dirty="0">
                <a:hlinkClick r:id="rId2"/>
              </a:rPr>
            </a:br>
            <a:r>
              <a:rPr lang="en-US" sz="2200" u="sng" dirty="0">
                <a:hlinkClick r:id="rId2"/>
              </a:rPr>
              <a:t>https://ecommercedb.com/reports/ecommerce-payment-provider-visa/389</a:t>
            </a:r>
            <a:br>
              <a:rPr lang="en-US" dirty="0"/>
            </a:br>
            <a:endParaRPr lang="en-US" dirty="0"/>
          </a:p>
        </p:txBody>
      </p:sp>
      <p:pic>
        <p:nvPicPr>
          <p:cNvPr id="4" name="Image 3" descr="ecommerceDB Infographic: Payment Providers_Visa_2022_2.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950977"/>
            <a:ext cx="10515600" cy="5806440"/>
          </a:xfrm>
          <a:prstGeom prst="rect">
            <a:avLst/>
          </a:prstGeom>
          <a:noFill/>
          <a:ln>
            <a:noFill/>
          </a:ln>
        </p:spPr>
      </p:pic>
    </p:spTree>
    <p:extLst>
      <p:ext uri="{BB962C8B-B14F-4D97-AF65-F5344CB8AC3E}">
        <p14:creationId xmlns:p14="http://schemas.microsoft.com/office/powerpoint/2010/main" val="3133797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66979"/>
          </a:xfrm>
        </p:spPr>
        <p:txBody>
          <a:bodyPr>
            <a:normAutofit/>
          </a:bodyPr>
          <a:lstStyle/>
          <a:p>
            <a:r>
              <a:rPr lang="en-US" sz="2000" u="sng" dirty="0">
                <a:hlinkClick r:id="rId2"/>
              </a:rPr>
              <a:t>https://ecommercedb.com/reports/ecommerce-payment-provider-visa/389</a:t>
            </a:r>
            <a:endParaRPr lang="en-US" sz="2000" dirty="0"/>
          </a:p>
        </p:txBody>
      </p:sp>
      <p:pic>
        <p:nvPicPr>
          <p:cNvPr id="4" name="Image 3" descr="ecommerceDB Infographic: Payment Providers_Visa_2022_3.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832105"/>
            <a:ext cx="10515599" cy="5870447"/>
          </a:xfrm>
          <a:prstGeom prst="rect">
            <a:avLst/>
          </a:prstGeom>
          <a:noFill/>
          <a:ln>
            <a:noFill/>
          </a:ln>
        </p:spPr>
      </p:pic>
    </p:spTree>
    <p:extLst>
      <p:ext uri="{BB962C8B-B14F-4D97-AF65-F5344CB8AC3E}">
        <p14:creationId xmlns:p14="http://schemas.microsoft.com/office/powerpoint/2010/main" val="1023975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67563"/>
          </a:xfrm>
        </p:spPr>
        <p:txBody>
          <a:bodyPr>
            <a:normAutofit/>
          </a:bodyPr>
          <a:lstStyle/>
          <a:p>
            <a:r>
              <a:rPr lang="en-US" sz="2000" u="sng" dirty="0">
                <a:hlinkClick r:id="rId2"/>
              </a:rPr>
              <a:t>https://ecommercedb.com/reports/ecommerce-payment-provider-visa/389</a:t>
            </a:r>
            <a:endParaRPr lang="en-US" sz="2000" dirty="0"/>
          </a:p>
        </p:txBody>
      </p:sp>
      <p:pic>
        <p:nvPicPr>
          <p:cNvPr id="4" name="Image 3" descr="ecommerceDB Infographic: Payment Providers_Visa_2022_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069849"/>
            <a:ext cx="10515599" cy="5788152"/>
          </a:xfrm>
          <a:prstGeom prst="rect">
            <a:avLst/>
          </a:prstGeom>
          <a:noFill/>
          <a:ln>
            <a:noFill/>
          </a:ln>
        </p:spPr>
      </p:pic>
    </p:spTree>
    <p:extLst>
      <p:ext uri="{BB962C8B-B14F-4D97-AF65-F5344CB8AC3E}">
        <p14:creationId xmlns:p14="http://schemas.microsoft.com/office/powerpoint/2010/main" val="3584015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21259"/>
          </a:xfrm>
        </p:spPr>
        <p:txBody>
          <a:bodyPr>
            <a:normAutofit fontScale="90000"/>
          </a:bodyPr>
          <a:lstStyle/>
          <a:p>
            <a:br>
              <a:rPr lang="en-US" sz="2200" u="sng" dirty="0">
                <a:hlinkClick r:id="rId2"/>
              </a:rPr>
            </a:br>
            <a:br>
              <a:rPr lang="en-US" sz="2200" u="sng" dirty="0">
                <a:hlinkClick r:id="rId2"/>
              </a:rPr>
            </a:br>
            <a:r>
              <a:rPr lang="en-US" sz="2200" u="sng" dirty="0">
                <a:hlinkClick r:id="rId2"/>
              </a:rPr>
              <a:t>https://www.statista.com/statistics/268225/countries-with-the-highest-inflation-rate/</a:t>
            </a:r>
            <a:br>
              <a:rPr lang="en-US" dirty="0"/>
            </a:br>
            <a:endParaRPr lang="en-US" dirty="0"/>
          </a:p>
        </p:txBody>
      </p:sp>
      <p:pic>
        <p:nvPicPr>
          <p:cNvPr id="4" name="Image 3"/>
          <p:cNvPicPr>
            <a:picLocks noChangeAspect="1"/>
          </p:cNvPicPr>
          <p:nvPr/>
        </p:nvPicPr>
        <p:blipFill>
          <a:blip r:embed="rId3"/>
          <a:stretch>
            <a:fillRect/>
          </a:stretch>
        </p:blipFill>
        <p:spPr>
          <a:xfrm>
            <a:off x="838200" y="896112"/>
            <a:ext cx="10515600" cy="5888736"/>
          </a:xfrm>
          <a:prstGeom prst="rect">
            <a:avLst/>
          </a:prstGeom>
        </p:spPr>
      </p:pic>
    </p:spTree>
    <p:extLst>
      <p:ext uri="{BB962C8B-B14F-4D97-AF65-F5344CB8AC3E}">
        <p14:creationId xmlns:p14="http://schemas.microsoft.com/office/powerpoint/2010/main" val="1354462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03555"/>
          </a:xfrm>
        </p:spPr>
        <p:txBody>
          <a:bodyPr>
            <a:normAutofit/>
          </a:bodyPr>
          <a:lstStyle/>
          <a:p>
            <a:r>
              <a:rPr lang="en-US" sz="2000" u="sng" dirty="0">
                <a:hlinkClick r:id="rId2"/>
              </a:rPr>
              <a:t>https://www.statista.com/statistics/191077/inflation-rate-in-the-usa-since-1990/</a:t>
            </a:r>
            <a:endParaRPr lang="en-US" sz="2000" dirty="0"/>
          </a:p>
        </p:txBody>
      </p:sp>
      <p:pic>
        <p:nvPicPr>
          <p:cNvPr id="4" name="Image 3"/>
          <p:cNvPicPr>
            <a:picLocks noChangeAspect="1"/>
          </p:cNvPicPr>
          <p:nvPr/>
        </p:nvPicPr>
        <p:blipFill>
          <a:blip r:embed="rId3"/>
          <a:stretch>
            <a:fillRect/>
          </a:stretch>
        </p:blipFill>
        <p:spPr>
          <a:xfrm>
            <a:off x="838200" y="1097281"/>
            <a:ext cx="10515600" cy="5575744"/>
          </a:xfrm>
          <a:prstGeom prst="rect">
            <a:avLst/>
          </a:prstGeom>
        </p:spPr>
      </p:pic>
    </p:spTree>
    <p:extLst>
      <p:ext uri="{BB962C8B-B14F-4D97-AF65-F5344CB8AC3E}">
        <p14:creationId xmlns:p14="http://schemas.microsoft.com/office/powerpoint/2010/main" val="3180007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701040" y="291973"/>
            <a:ext cx="10515600" cy="476123"/>
          </a:xfrm>
        </p:spPr>
        <p:txBody>
          <a:bodyPr>
            <a:normAutofit/>
          </a:bodyPr>
          <a:lstStyle/>
          <a:p>
            <a:r>
              <a:rPr lang="en-US" sz="2000" u="sng" dirty="0">
                <a:hlinkClick r:id="rId2"/>
              </a:rPr>
              <a:t>https://www.statista.com/statistics/273418/unadjusted-monthly-inflation-rate-in-the-us/</a:t>
            </a:r>
            <a:endParaRPr lang="en-US" sz="2000" dirty="0"/>
          </a:p>
        </p:txBody>
      </p:sp>
      <p:pic>
        <p:nvPicPr>
          <p:cNvPr id="7" name="Image 6"/>
          <p:cNvPicPr>
            <a:picLocks noChangeAspect="1"/>
          </p:cNvPicPr>
          <p:nvPr/>
        </p:nvPicPr>
        <p:blipFill>
          <a:blip r:embed="rId3"/>
          <a:stretch>
            <a:fillRect/>
          </a:stretch>
        </p:blipFill>
        <p:spPr>
          <a:xfrm>
            <a:off x="0" y="1139802"/>
            <a:ext cx="12106656" cy="5620811"/>
          </a:xfrm>
          <a:prstGeom prst="rect">
            <a:avLst/>
          </a:prstGeom>
        </p:spPr>
      </p:pic>
    </p:spTree>
    <p:extLst>
      <p:ext uri="{BB962C8B-B14F-4D97-AF65-F5344CB8AC3E}">
        <p14:creationId xmlns:p14="http://schemas.microsoft.com/office/powerpoint/2010/main" val="1285205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47472" y="420624"/>
            <a:ext cx="10515600" cy="557784"/>
          </a:xfrm>
        </p:spPr>
        <p:txBody>
          <a:bodyPr>
            <a:normAutofit fontScale="90000"/>
          </a:bodyPr>
          <a:lstStyle/>
          <a:p>
            <a:br>
              <a:rPr lang="en-US" sz="2000" dirty="0"/>
            </a:br>
            <a:br>
              <a:rPr lang="en-US" sz="2000" dirty="0"/>
            </a:br>
            <a:br>
              <a:rPr lang="en-US" sz="2000" dirty="0"/>
            </a:br>
            <a:br>
              <a:rPr lang="en-US" sz="2000" dirty="0"/>
            </a:br>
            <a:br>
              <a:rPr lang="en-US" sz="2000" dirty="0"/>
            </a:br>
            <a:br>
              <a:rPr lang="en-US" sz="2000" dirty="0"/>
            </a:br>
            <a:r>
              <a:rPr lang="en-US" sz="2200" u="sng" dirty="0">
                <a:hlinkClick r:id="rId2"/>
              </a:rPr>
              <a:t>https://www.statista.com/statistics/244983/projected-inflation-rate-in-the-united-states/</a:t>
            </a:r>
            <a:br>
              <a:rPr lang="en-US" dirty="0"/>
            </a:br>
            <a:br>
              <a:rPr lang="en-US" dirty="0"/>
            </a:br>
            <a:br>
              <a:rPr lang="en-US" dirty="0"/>
            </a:br>
            <a:endParaRPr lang="en-US" dirty="0"/>
          </a:p>
        </p:txBody>
      </p:sp>
      <p:pic>
        <p:nvPicPr>
          <p:cNvPr id="5" name="Image 4"/>
          <p:cNvPicPr>
            <a:picLocks noChangeAspect="1"/>
          </p:cNvPicPr>
          <p:nvPr/>
        </p:nvPicPr>
        <p:blipFill>
          <a:blip r:embed="rId3"/>
          <a:stretch>
            <a:fillRect/>
          </a:stretch>
        </p:blipFill>
        <p:spPr>
          <a:xfrm>
            <a:off x="1051560" y="1837945"/>
            <a:ext cx="10049256" cy="4526280"/>
          </a:xfrm>
          <a:prstGeom prst="rect">
            <a:avLst/>
          </a:prstGeom>
        </p:spPr>
      </p:pic>
    </p:spTree>
    <p:extLst>
      <p:ext uri="{BB962C8B-B14F-4D97-AF65-F5344CB8AC3E}">
        <p14:creationId xmlns:p14="http://schemas.microsoft.com/office/powerpoint/2010/main" val="108842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841883"/>
          </a:xfrm>
        </p:spPr>
        <p:txBody>
          <a:bodyPr>
            <a:normAutofit fontScale="90000"/>
          </a:bodyPr>
          <a:lstStyle/>
          <a:p>
            <a:r>
              <a:rPr lang="fr-FR" sz="2000" u="sng" dirty="0">
                <a:hlinkClick r:id="rId3"/>
              </a:rPr>
              <a:t>https://www.pgpf.org/blog/2023/04/six-charts-that-show-how-low-corporate-tax-revenues-are-in-the-united-states-right-now?fbclid=IwAR2qr-w1VUVGWE0S3Z_yf6L-Lf1jH0Nd75kiRGc2CF2PGLGxVPgEA1HiDFE</a:t>
            </a:r>
            <a:endParaRPr lang="en-US" sz="2000" dirty="0"/>
          </a:p>
        </p:txBody>
      </p:sp>
      <p:pic>
        <p:nvPicPr>
          <p:cNvPr id="5" name="Image 4" descr="Following the 2017 tax reform, the federal statutory corporate tax rate in the United States is now more in line with other wealthy countries"/>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07009"/>
            <a:ext cx="10515600" cy="5541264"/>
          </a:xfrm>
          <a:prstGeom prst="rect">
            <a:avLst/>
          </a:prstGeom>
          <a:noFill/>
          <a:ln>
            <a:noFill/>
          </a:ln>
        </p:spPr>
      </p:pic>
    </p:spTree>
    <p:extLst>
      <p:ext uri="{BB962C8B-B14F-4D97-AF65-F5344CB8AC3E}">
        <p14:creationId xmlns:p14="http://schemas.microsoft.com/office/powerpoint/2010/main" val="2556797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592818"/>
          </a:xfrm>
        </p:spPr>
        <p:txBody>
          <a:bodyPr>
            <a:normAutofit fontScale="90000"/>
          </a:bodyPr>
          <a:lstStyle/>
          <a:p>
            <a:br>
              <a:rPr lang="en-US" sz="2000" u="sng" dirty="0">
                <a:hlinkClick r:id="rId3"/>
              </a:rPr>
            </a:br>
            <a:br>
              <a:rPr lang="en-US" sz="2000" u="sng" dirty="0">
                <a:hlinkClick r:id="rId3"/>
              </a:rPr>
            </a:br>
            <a:r>
              <a:rPr lang="en-US" sz="2000" u="sng" dirty="0">
                <a:hlinkClick r:id="rId3"/>
              </a:rPr>
              <a:t>https://www.pgpf.org/blog/2023/04/six-charts-that-show-how-low-corporate-tax-revenues-are-in-the-united-states-right-now?fbclid=IwAR2qr-w1VUVGWE0S3Z_yf6L-Lf1jH0Nd75kiRGc2CF2PGLGxVPgEA1HiDFE</a:t>
            </a:r>
            <a:br>
              <a:rPr lang="en-US" dirty="0"/>
            </a:br>
            <a:endParaRPr lang="en-US" dirty="0"/>
          </a:p>
        </p:txBody>
      </p:sp>
      <p:pic>
        <p:nvPicPr>
          <p:cNvPr id="4098" name="Picture 2" descr="As a share of GDP, U.S. corporate income tax revenue is the lower than most G7 countries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3462" y="1091973"/>
            <a:ext cx="8154938" cy="5624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227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14589"/>
          </a:xfrm>
        </p:spPr>
        <p:txBody>
          <a:bodyPr>
            <a:normAutofit fontScale="90000"/>
          </a:bodyPr>
          <a:lstStyle/>
          <a:p>
            <a:br>
              <a:rPr lang="en-US" sz="2000" u="sng" dirty="0">
                <a:hlinkClick r:id="rId3"/>
              </a:rPr>
            </a:br>
            <a:br>
              <a:rPr lang="en-US" sz="2000" u="sng" dirty="0">
                <a:hlinkClick r:id="rId3"/>
              </a:rPr>
            </a:br>
            <a:r>
              <a:rPr lang="en-US" sz="2000" u="sng" dirty="0">
                <a:hlinkClick r:id="rId3"/>
              </a:rPr>
              <a:t>https://www.pgpf.org/blog/2023/04/six-charts-that-show-how-low-corporate-tax-revenues-are-in-the-united-states-right-now?fbclid=IwAR2qr-w1VUVGWE0S3Z_yf6L-Lf1jH0Nd75kiRGc2CF2PGLGxVPgEA1HiDFE</a:t>
            </a:r>
            <a:br>
              <a:rPr lang="en-US" dirty="0"/>
            </a:br>
            <a:endParaRPr lang="en-US" dirty="0"/>
          </a:p>
        </p:txBody>
      </p:sp>
      <p:pic>
        <p:nvPicPr>
          <p:cNvPr id="5122" name="Picture 2" descr="As a share of GDP, U.S. corporate income tax revenue is the lower than most G7 countries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457" y="979714"/>
            <a:ext cx="9013371" cy="5878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683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58457"/>
          </a:xfrm>
        </p:spPr>
        <p:txBody>
          <a:bodyPr>
            <a:normAutofit/>
          </a:bodyPr>
          <a:lstStyle/>
          <a:p>
            <a:r>
              <a:rPr lang="en-US" sz="1800" u="sng" dirty="0">
                <a:hlinkClick r:id="rId3"/>
              </a:rPr>
              <a:t>https://www.pgpf.org/blog/2023/04/six-charts-that-show-how-low-corporate-tax-revenues-are-in-the-united-states-right-now?fbclid=IwAR2qr-w1VUVGWE0S3Z_yf6L-Lf1jH0Nd75kiRGc2CF2PGLGxVPgEA1HiDFE</a:t>
            </a:r>
            <a:endParaRPr lang="en-US" sz="1800" dirty="0"/>
          </a:p>
        </p:txBody>
      </p:sp>
      <p:pic>
        <p:nvPicPr>
          <p:cNvPr id="6146" name="Picture 2" descr="The statutory rate for federal corporate taxes has declined over time "/>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364776" y="1201003"/>
            <a:ext cx="9389660" cy="5656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286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58457"/>
          </a:xfrm>
        </p:spPr>
        <p:txBody>
          <a:bodyPr>
            <a:normAutofit/>
          </a:bodyPr>
          <a:lstStyle/>
          <a:p>
            <a:r>
              <a:rPr lang="en-US" sz="1800" u="sng" dirty="0">
                <a:hlinkClick r:id="rId3"/>
              </a:rPr>
              <a:t>https://www.pgpf.org/blog/2023/04/six-charts-that-show-how-low-corporate-tax-revenues-are-in-the-united-states-right-now?fbclid=IwAR2qr-w1VUVGWE0S3Z_yf6L-Lf1jH0Nd75kiRGc2CF2PGLGxVPgEA1HiDFE</a:t>
            </a:r>
            <a:endParaRPr lang="en-US" sz="1800" dirty="0"/>
          </a:p>
        </p:txBody>
      </p:sp>
      <p:pic>
        <p:nvPicPr>
          <p:cNvPr id="7170" name="Picture 2" descr="The share of net business income represented by pass­through entities has been rising since 1980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023582"/>
            <a:ext cx="9315733" cy="5732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575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62923"/>
          </a:xfrm>
        </p:spPr>
        <p:txBody>
          <a:bodyPr>
            <a:normAutofit fontScale="90000"/>
          </a:bodyPr>
          <a:lstStyle/>
          <a:p>
            <a:r>
              <a:rPr lang="en-US" sz="1800" u="sng" dirty="0">
                <a:hlinkClick r:id="rId3"/>
              </a:rPr>
              <a:t>https://www.pgpf.org/blog/2023/04/six-charts-that-show-how-low-corporate-tax-revenues-are-in-the-united-states-right-now?fbclid=IwAR2qr-w1VUVGWE0S3Z_yf6L-Lf1jH0Nd75kiRGc2CF2PGLGxVPgEA1HiDFE</a:t>
            </a:r>
            <a:endParaRPr lang="en-US" sz="1800" dirty="0"/>
          </a:p>
        </p:txBody>
      </p:sp>
      <p:pic>
        <p:nvPicPr>
          <p:cNvPr id="8194" name="Picture 2" descr="Revenues from corporate income taxes have largely decreased since the 1950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171" y="1089280"/>
            <a:ext cx="10243458" cy="544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574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576571"/>
          </a:xfrm>
        </p:spPr>
        <p:txBody>
          <a:bodyPr>
            <a:normAutofit fontScale="90000"/>
          </a:bodyPr>
          <a:lstStyle/>
          <a:p>
            <a:r>
              <a:rPr lang="en-US" sz="1800" u="sng" dirty="0">
                <a:hlinkClick r:id="rId3"/>
              </a:rPr>
              <a:t>https://www.pgpf.org/blog/2023/04/six-charts-that-show-how-low-corporate-tax-revenues-are-in-the-united-states-right-now?fbclid=IwAR2qr-w1VUVGWE0S3Z_yf6L-Lf1jH0Nd75kiRGc2CF2PGLGxVPgEA1HiDFE</a:t>
            </a:r>
            <a:endParaRPr lang="en-US" sz="1800" dirty="0"/>
          </a:p>
        </p:txBody>
      </p:sp>
      <p:pic>
        <p:nvPicPr>
          <p:cNvPr id="9218" name="Picture 2" descr="Corporate tax expenditures will be nearly one-third the&#10;amount of corporate revenues in 20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9" y="941696"/>
            <a:ext cx="10417629" cy="5725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683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22831"/>
            <a:ext cx="10515600" cy="928048"/>
          </a:xfrm>
        </p:spPr>
        <p:txBody>
          <a:bodyPr>
            <a:normAutofit/>
          </a:bodyPr>
          <a:lstStyle/>
          <a:p>
            <a:r>
              <a:rPr lang="en-US" sz="2000" u="sng" dirty="0">
                <a:hlinkClick r:id="rId2"/>
              </a:rPr>
              <a:t>https://ourworldindata.org/artificial-intelligence?fbclid=IwAR09fwU6mI9MwxRXQKtVzA0X2SnfnHMyPqkcKGJeH-pqn23iuXxGovuhFGI</a:t>
            </a:r>
            <a:endParaRPr lang="en-US" sz="2000" dirty="0"/>
          </a:p>
        </p:txBody>
      </p:sp>
      <p:pic>
        <p:nvPicPr>
          <p:cNvPr id="5" name="Image 4"/>
          <p:cNvPicPr>
            <a:picLocks noChangeAspect="1"/>
          </p:cNvPicPr>
          <p:nvPr/>
        </p:nvPicPr>
        <p:blipFill>
          <a:blip r:embed="rId3"/>
          <a:stretch>
            <a:fillRect/>
          </a:stretch>
        </p:blipFill>
        <p:spPr>
          <a:xfrm>
            <a:off x="838200" y="1050878"/>
            <a:ext cx="10515600" cy="5645197"/>
          </a:xfrm>
          <a:prstGeom prst="rect">
            <a:avLst/>
          </a:prstGeom>
        </p:spPr>
      </p:pic>
    </p:spTree>
    <p:extLst>
      <p:ext uri="{BB962C8B-B14F-4D97-AF65-F5344CB8AC3E}">
        <p14:creationId xmlns:p14="http://schemas.microsoft.com/office/powerpoint/2010/main" val="373778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283239"/>
            <a:ext cx="10515600" cy="549274"/>
          </a:xfrm>
        </p:spPr>
        <p:txBody>
          <a:bodyPr>
            <a:normAutofit fontScale="90000"/>
          </a:bodyPr>
          <a:lstStyle/>
          <a:p>
            <a:r>
              <a:rPr lang="en-US" sz="1800" u="sng" dirty="0">
                <a:hlinkClick r:id="rId2"/>
              </a:rPr>
              <a:t>https://ourworldindata.org/artificial-intelligence?fbclid=IwAR09fwU6mI9MwxRXQKtVzA0X2SnfnHMyPqkcKGJeH-pqn23iuXxGovuhFGI</a:t>
            </a:r>
            <a:endParaRPr lang="en-US" sz="1800" dirty="0"/>
          </a:p>
        </p:txBody>
      </p:sp>
      <p:pic>
        <p:nvPicPr>
          <p:cNvPr id="4" name="Image 3"/>
          <p:cNvPicPr/>
          <p:nvPr/>
        </p:nvPicPr>
        <p:blipFill>
          <a:blip r:embed="rId3">
            <a:extLst>
              <a:ext uri="{28A0092B-C50C-407E-A947-70E740481C1C}">
                <a14:useLocalDpi xmlns:a14="http://schemas.microsoft.com/office/drawing/2010/main" val="0"/>
              </a:ext>
            </a:extLst>
          </a:blip>
          <a:srcRect/>
          <a:stretch>
            <a:fillRect/>
          </a:stretch>
        </p:blipFill>
        <p:spPr bwMode="auto">
          <a:xfrm>
            <a:off x="723331" y="832513"/>
            <a:ext cx="10630469" cy="6052783"/>
          </a:xfrm>
          <a:prstGeom prst="rect">
            <a:avLst/>
          </a:prstGeom>
          <a:noFill/>
          <a:ln>
            <a:noFill/>
          </a:ln>
        </p:spPr>
      </p:pic>
    </p:spTree>
    <p:extLst>
      <p:ext uri="{BB962C8B-B14F-4D97-AF65-F5344CB8AC3E}">
        <p14:creationId xmlns:p14="http://schemas.microsoft.com/office/powerpoint/2010/main" val="3490731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272955"/>
            <a:ext cx="10515600" cy="682389"/>
          </a:xfrm>
        </p:spPr>
        <p:txBody>
          <a:bodyPr>
            <a:normAutofit/>
          </a:bodyPr>
          <a:lstStyle/>
          <a:p>
            <a:r>
              <a:rPr lang="en-US" sz="2000" u="sng" dirty="0">
                <a:hlinkClick r:id="rId2"/>
              </a:rPr>
              <a:t>https://ourworldindata.org/artificial-intelligence?fbclid=IwAR09fwU6mI9MwxRXQKtVzA0X2SnfnHMyPqkcKGJeH-pqn23iuXxGovuhFGI</a:t>
            </a:r>
            <a:endParaRPr lang="en-US" sz="2000" dirty="0"/>
          </a:p>
        </p:txBody>
      </p:sp>
      <p:pic>
        <p:nvPicPr>
          <p:cNvPr id="6" name="Image 5"/>
          <p:cNvPicPr>
            <a:picLocks noChangeAspect="1"/>
          </p:cNvPicPr>
          <p:nvPr/>
        </p:nvPicPr>
        <p:blipFill>
          <a:blip r:embed="rId3"/>
          <a:stretch>
            <a:fillRect/>
          </a:stretch>
        </p:blipFill>
        <p:spPr>
          <a:xfrm>
            <a:off x="838200" y="1146413"/>
            <a:ext cx="10515600" cy="5678250"/>
          </a:xfrm>
          <a:prstGeom prst="rect">
            <a:avLst/>
          </a:prstGeom>
        </p:spPr>
      </p:pic>
    </p:spTree>
    <p:extLst>
      <p:ext uri="{BB962C8B-B14F-4D97-AF65-F5344CB8AC3E}">
        <p14:creationId xmlns:p14="http://schemas.microsoft.com/office/powerpoint/2010/main" val="1186007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259307"/>
            <a:ext cx="10515600" cy="682389"/>
          </a:xfrm>
        </p:spPr>
        <p:txBody>
          <a:bodyPr>
            <a:normAutofit/>
          </a:bodyPr>
          <a:lstStyle/>
          <a:p>
            <a:r>
              <a:rPr lang="en-US" sz="2000" u="sng" dirty="0">
                <a:hlinkClick r:id="rId3"/>
              </a:rPr>
              <a:t>https://ourworldindata.org/artificial-intelligence?fbclid=IwAR09fwU6mI9MwxRXQKtVzA0X2SnfnHMyPqkcKGJeH-pqn23iuXxGovuhFGI</a:t>
            </a:r>
            <a:endParaRPr lang="en-US" sz="2000" dirty="0"/>
          </a:p>
        </p:txBody>
      </p:sp>
      <p:pic>
        <p:nvPicPr>
          <p:cNvPr id="5" name="Image 4"/>
          <p:cNvPicPr>
            <a:picLocks noChangeAspect="1"/>
          </p:cNvPicPr>
          <p:nvPr/>
        </p:nvPicPr>
        <p:blipFill>
          <a:blip r:embed="rId4"/>
          <a:stretch>
            <a:fillRect/>
          </a:stretch>
        </p:blipFill>
        <p:spPr>
          <a:xfrm>
            <a:off x="838200" y="1105469"/>
            <a:ext cx="10515600" cy="5773145"/>
          </a:xfrm>
          <a:prstGeom prst="rect">
            <a:avLst/>
          </a:prstGeom>
        </p:spPr>
      </p:pic>
    </p:spTree>
    <p:extLst>
      <p:ext uri="{BB962C8B-B14F-4D97-AF65-F5344CB8AC3E}">
        <p14:creationId xmlns:p14="http://schemas.microsoft.com/office/powerpoint/2010/main" val="2728719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603866"/>
          </a:xfrm>
        </p:spPr>
        <p:txBody>
          <a:bodyPr>
            <a:normAutofit fontScale="90000"/>
          </a:bodyPr>
          <a:lstStyle/>
          <a:p>
            <a:r>
              <a:rPr lang="en-US" sz="2000" u="sng" dirty="0">
                <a:hlinkClick r:id="rId2"/>
              </a:rPr>
              <a:t>https://ourworldindata.org/artificial-intelligence?fbclid=IwAR09fwU6mI9MwxRXQKtVzA0X2SnfnHMyPqkcKGJeH-pqn23iuXxGovuhFGI</a:t>
            </a:r>
            <a:endParaRPr lang="en-US" sz="2000" dirty="0"/>
          </a:p>
        </p:txBody>
      </p:sp>
      <p:pic>
        <p:nvPicPr>
          <p:cNvPr id="4" name="Image 3"/>
          <p:cNvPicPr>
            <a:picLocks noChangeAspect="1"/>
          </p:cNvPicPr>
          <p:nvPr/>
        </p:nvPicPr>
        <p:blipFill>
          <a:blip r:embed="rId3"/>
          <a:stretch>
            <a:fillRect/>
          </a:stretch>
        </p:blipFill>
        <p:spPr>
          <a:xfrm>
            <a:off x="838200" y="1091822"/>
            <a:ext cx="10515600" cy="5704266"/>
          </a:xfrm>
          <a:prstGeom prst="rect">
            <a:avLst/>
          </a:prstGeom>
        </p:spPr>
      </p:pic>
    </p:spTree>
    <p:extLst>
      <p:ext uri="{BB962C8B-B14F-4D97-AF65-F5344CB8AC3E}">
        <p14:creationId xmlns:p14="http://schemas.microsoft.com/office/powerpoint/2010/main" val="1389058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685753"/>
          </a:xfrm>
        </p:spPr>
        <p:txBody>
          <a:bodyPr>
            <a:normAutofit fontScale="90000"/>
          </a:bodyPr>
          <a:lstStyle/>
          <a:p>
            <a:r>
              <a:rPr lang="en-US" sz="2200" u="sng" dirty="0">
                <a:hlinkClick r:id="rId2"/>
              </a:rPr>
              <a:t>https://ourworldindata.org/artificial-intelligence?fbclid=IwAR09fwU6mI9MwxRXQKtVzA0X2SnfnHMyPqkcKGJeH-pqn23iuXxGovuhFGI</a:t>
            </a:r>
            <a:endParaRPr lang="en-US" dirty="0"/>
          </a:p>
        </p:txBody>
      </p:sp>
      <p:pic>
        <p:nvPicPr>
          <p:cNvPr id="4" name="Espace réservé du contenu 3"/>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228300"/>
            <a:ext cx="10515600" cy="5500046"/>
          </a:xfrm>
          <a:prstGeom prst="rect">
            <a:avLst/>
          </a:prstGeom>
          <a:noFill/>
          <a:ln>
            <a:noFill/>
          </a:ln>
        </p:spPr>
      </p:pic>
    </p:spTree>
    <p:extLst>
      <p:ext uri="{BB962C8B-B14F-4D97-AF65-F5344CB8AC3E}">
        <p14:creationId xmlns:p14="http://schemas.microsoft.com/office/powerpoint/2010/main" val="1212324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272955"/>
            <a:ext cx="10515600" cy="532263"/>
          </a:xfrm>
        </p:spPr>
        <p:txBody>
          <a:bodyPr>
            <a:normAutofit fontScale="90000"/>
          </a:bodyPr>
          <a:lstStyle/>
          <a:p>
            <a:br>
              <a:rPr lang="en-US" sz="2200" u="sng" dirty="0">
                <a:hlinkClick r:id="rId3"/>
              </a:rPr>
            </a:br>
            <a:br>
              <a:rPr lang="en-US" sz="2200" u="sng" dirty="0">
                <a:hlinkClick r:id="rId3"/>
              </a:rPr>
            </a:br>
            <a:r>
              <a:rPr lang="en-US" sz="2200" u="sng" dirty="0">
                <a:hlinkClick r:id="rId3"/>
              </a:rPr>
              <a:t>https://ourworldindata.org/artificial-intelligence?fbclid=IwAR09fwU6mI9MwxRXQKtVzA0X2SnfnHMyPqkcKGJeH-pqn23iuXxGovuhFGI</a:t>
            </a:r>
            <a:br>
              <a:rPr lang="en-US" dirty="0"/>
            </a:br>
            <a:endParaRPr lang="en-US" dirty="0"/>
          </a:p>
        </p:txBody>
      </p:sp>
      <p:pic>
        <p:nvPicPr>
          <p:cNvPr id="4" name="Image 3"/>
          <p:cNvPicPr/>
          <p:nvPr/>
        </p:nvPicPr>
        <p:blipFill>
          <a:blip r:embed="rId4">
            <a:extLst>
              <a:ext uri="{28A0092B-C50C-407E-A947-70E740481C1C}">
                <a14:useLocalDpi xmlns:a14="http://schemas.microsoft.com/office/drawing/2010/main" val="0"/>
              </a:ext>
            </a:extLst>
          </a:blip>
          <a:srcRect/>
          <a:stretch>
            <a:fillRect/>
          </a:stretch>
        </p:blipFill>
        <p:spPr bwMode="auto">
          <a:xfrm>
            <a:off x="838200" y="1064526"/>
            <a:ext cx="10515600" cy="5636526"/>
          </a:xfrm>
          <a:prstGeom prst="rect">
            <a:avLst/>
          </a:prstGeom>
          <a:noFill/>
          <a:ln>
            <a:noFill/>
          </a:ln>
        </p:spPr>
      </p:pic>
    </p:spTree>
    <p:extLst>
      <p:ext uri="{BB962C8B-B14F-4D97-AF65-F5344CB8AC3E}">
        <p14:creationId xmlns:p14="http://schemas.microsoft.com/office/powerpoint/2010/main" val="777134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50125"/>
            <a:ext cx="10515600" cy="709685"/>
          </a:xfrm>
        </p:spPr>
        <p:txBody>
          <a:bodyPr>
            <a:normAutofit/>
          </a:bodyPr>
          <a:lstStyle/>
          <a:p>
            <a:r>
              <a:rPr lang="en-US" sz="2000" u="sng" dirty="0">
                <a:hlinkClick r:id="rId2"/>
              </a:rPr>
              <a:t>https://www.astoncarter.com/en/insights/articles/top-accounting-and-finance-hiring-trends-in-2023?fbclid=IwAR1okObjxtmHQCCz8pfhuR8cZKTbPLSzz0Lsg9jYYJhXeuF_lRCi6WbF8ug</a:t>
            </a:r>
            <a:endParaRPr lang="en-US" sz="2000" dirty="0"/>
          </a:p>
        </p:txBody>
      </p:sp>
      <p:pic>
        <p:nvPicPr>
          <p:cNvPr id="4" name="Image 3"/>
          <p:cNvPicPr>
            <a:picLocks noChangeAspect="1"/>
          </p:cNvPicPr>
          <p:nvPr/>
        </p:nvPicPr>
        <p:blipFill>
          <a:blip r:embed="rId3"/>
          <a:stretch>
            <a:fillRect/>
          </a:stretch>
        </p:blipFill>
        <p:spPr>
          <a:xfrm>
            <a:off x="838200" y="1050878"/>
            <a:ext cx="10515599" cy="5807122"/>
          </a:xfrm>
          <a:prstGeom prst="rect">
            <a:avLst/>
          </a:prstGeom>
        </p:spPr>
      </p:pic>
    </p:spTree>
    <p:extLst>
      <p:ext uri="{BB962C8B-B14F-4D97-AF65-F5344CB8AC3E}">
        <p14:creationId xmlns:p14="http://schemas.microsoft.com/office/powerpoint/2010/main" val="7071953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204717"/>
            <a:ext cx="10515600" cy="573206"/>
          </a:xfrm>
        </p:spPr>
        <p:txBody>
          <a:bodyPr>
            <a:normAutofit fontScale="90000"/>
          </a:bodyPr>
          <a:lstStyle/>
          <a:p>
            <a:r>
              <a:rPr lang="en-US" sz="2000" u="sng" dirty="0">
                <a:hlinkClick r:id="rId3"/>
              </a:rPr>
              <a:t>https://www.astoncarter.com/en/insights/articles/top-accounting-and-finance-hiring-trends-in-2023?fbclid=IwAR1okObjxtmHQCCz8pfhuR8cZKTbPLSzz0Lsg9jYYJhXeuF_lRCi6WbF8ug</a:t>
            </a:r>
            <a:endParaRPr lang="en-US" sz="2000" dirty="0"/>
          </a:p>
        </p:txBody>
      </p:sp>
      <p:pic>
        <p:nvPicPr>
          <p:cNvPr id="4" name="Image 3"/>
          <p:cNvPicPr>
            <a:picLocks noChangeAspect="1"/>
          </p:cNvPicPr>
          <p:nvPr/>
        </p:nvPicPr>
        <p:blipFill>
          <a:blip r:embed="rId4"/>
          <a:stretch>
            <a:fillRect/>
          </a:stretch>
        </p:blipFill>
        <p:spPr>
          <a:xfrm>
            <a:off x="838200" y="777923"/>
            <a:ext cx="10625919" cy="5964071"/>
          </a:xfrm>
          <a:prstGeom prst="rect">
            <a:avLst/>
          </a:prstGeom>
        </p:spPr>
      </p:pic>
    </p:spTree>
    <p:extLst>
      <p:ext uri="{BB962C8B-B14F-4D97-AF65-F5344CB8AC3E}">
        <p14:creationId xmlns:p14="http://schemas.microsoft.com/office/powerpoint/2010/main" val="269220045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2033</Words>
  <Application>Microsoft Office PowerPoint</Application>
  <PresentationFormat>Grand écran</PresentationFormat>
  <Paragraphs>83</Paragraphs>
  <Slides>37</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37</vt:i4>
      </vt:variant>
    </vt:vector>
  </HeadingPairs>
  <TitlesOfParts>
    <vt:vector size="43" baseType="lpstr">
      <vt:lpstr>Arial</vt:lpstr>
      <vt:lpstr>Calibri</vt:lpstr>
      <vt:lpstr>Calibri Light</vt:lpstr>
      <vt:lpstr>Optima</vt:lpstr>
      <vt:lpstr>Optimq</vt:lpstr>
      <vt:lpstr>Thème Office</vt:lpstr>
      <vt:lpstr> Graphs to Interpret</vt:lpstr>
      <vt:lpstr>  https://www.statista.com/chart/25936/number-of-parcels-shipped-worldwide/?fbclid=IwAR3UYDhhTJgtxeEeasVOyWX-3gt1U8PD4ulxQaauHM_gvNR2EayC1zQDpRs </vt:lpstr>
      <vt:lpstr>https://www.statista.com/chart/28414/important-shipping-criteria-to-us-online-shoppers/</vt:lpstr>
      <vt:lpstr>  https://www.statista.com/chart/29109/share-of-people-that-would-try-delivery-drones/ </vt:lpstr>
      <vt:lpstr>https://www.statista.com/chart/17021/number-of-countries-using-drones/</vt:lpstr>
      <vt:lpstr>https://ecommercedb.com/insights/chart/11431</vt:lpstr>
      <vt:lpstr>https://ecommercedb.com/insights/chart/11429</vt:lpstr>
      <vt:lpstr> https://ecommercedb.com/insights/chart/11412 </vt:lpstr>
      <vt:lpstr>https://ecommercedb.com/insights/chart/11409</vt:lpstr>
      <vt:lpstr>https://ecommercedb.com/insights/chart/11406</vt:lpstr>
      <vt:lpstr>https://ecommercedb.com/reports/ecommerce-payment-provider-paypal/388</vt:lpstr>
      <vt:lpstr>https://ecommercedb.com/reports/ecommerce-payment-provider-paypal/388</vt:lpstr>
      <vt:lpstr>https://ecommercedb.com/reports/ecommerce-payment-provider-paypal/388</vt:lpstr>
      <vt:lpstr>https://ecommercedb.com/reports/ecommerce-payment-provider-visa/389</vt:lpstr>
      <vt:lpstr>  https://ecommercedb.com/reports/ecommerce-payment-provider-visa/389 </vt:lpstr>
      <vt:lpstr>https://ecommercedb.com/reports/ecommerce-payment-provider-visa/389</vt:lpstr>
      <vt:lpstr>https://ecommercedb.com/reports/ecommerce-payment-provider-visa/389</vt:lpstr>
      <vt:lpstr>  https://www.statista.com/statistics/268225/countries-with-the-highest-inflation-rate/ </vt:lpstr>
      <vt:lpstr>https://www.statista.com/statistics/191077/inflation-rate-in-the-usa-since-1990/</vt:lpstr>
      <vt:lpstr>https://www.statista.com/statistics/273418/unadjusted-monthly-inflation-rate-in-the-us/</vt:lpstr>
      <vt:lpstr>      https://www.statista.com/statistics/244983/projected-inflation-rate-in-the-united-states/   </vt:lpstr>
      <vt:lpstr>https://www.pgpf.org/blog/2023/04/six-charts-that-show-how-low-corporate-tax-revenues-are-in-the-united-states-right-now?fbclid=IwAR2qr-w1VUVGWE0S3Z_yf6L-Lf1jH0Nd75kiRGc2CF2PGLGxVPgEA1HiDFE</vt:lpstr>
      <vt:lpstr>  https://www.pgpf.org/blog/2023/04/six-charts-that-show-how-low-corporate-tax-revenues-are-in-the-united-states-right-now?fbclid=IwAR2qr-w1VUVGWE0S3Z_yf6L-Lf1jH0Nd75kiRGc2CF2PGLGxVPgEA1HiDFE </vt:lpstr>
      <vt:lpstr>  https://www.pgpf.org/blog/2023/04/six-charts-that-show-how-low-corporate-tax-revenues-are-in-the-united-states-right-now?fbclid=IwAR2qr-w1VUVGWE0S3Z_yf6L-Lf1jH0Nd75kiRGc2CF2PGLGxVPgEA1HiDFE </vt:lpstr>
      <vt:lpstr>https://www.pgpf.org/blog/2023/04/six-charts-that-show-how-low-corporate-tax-revenues-are-in-the-united-states-right-now?fbclid=IwAR2qr-w1VUVGWE0S3Z_yf6L-Lf1jH0Nd75kiRGc2CF2PGLGxVPgEA1HiDFE</vt:lpstr>
      <vt:lpstr>https://www.pgpf.org/blog/2023/04/six-charts-that-show-how-low-corporate-tax-revenues-are-in-the-united-states-right-now?fbclid=IwAR2qr-w1VUVGWE0S3Z_yf6L-Lf1jH0Nd75kiRGc2CF2PGLGxVPgEA1HiDFE</vt:lpstr>
      <vt:lpstr>https://www.pgpf.org/blog/2023/04/six-charts-that-show-how-low-corporate-tax-revenues-are-in-the-united-states-right-now?fbclid=IwAR2qr-w1VUVGWE0S3Z_yf6L-Lf1jH0Nd75kiRGc2CF2PGLGxVPgEA1HiDFE</vt:lpstr>
      <vt:lpstr>https://www.pgpf.org/blog/2023/04/six-charts-that-show-how-low-corporate-tax-revenues-are-in-the-united-states-right-now?fbclid=IwAR2qr-w1VUVGWE0S3Z_yf6L-Lf1jH0Nd75kiRGc2CF2PGLGxVPgEA1HiDFE</vt:lpstr>
      <vt:lpstr>https://ourworldindata.org/artificial-intelligence?fbclid=IwAR09fwU6mI9MwxRXQKtVzA0X2SnfnHMyPqkcKGJeH-pqn23iuXxGovuhFGI</vt:lpstr>
      <vt:lpstr>https://ourworldindata.org/artificial-intelligence?fbclid=IwAR09fwU6mI9MwxRXQKtVzA0X2SnfnHMyPqkcKGJeH-pqn23iuXxGovuhFGI</vt:lpstr>
      <vt:lpstr>https://ourworldindata.org/artificial-intelligence?fbclid=IwAR09fwU6mI9MwxRXQKtVzA0X2SnfnHMyPqkcKGJeH-pqn23iuXxGovuhFGI</vt:lpstr>
      <vt:lpstr>https://ourworldindata.org/artificial-intelligence?fbclid=IwAR09fwU6mI9MwxRXQKtVzA0X2SnfnHMyPqkcKGJeH-pqn23iuXxGovuhFGI</vt:lpstr>
      <vt:lpstr>https://ourworldindata.org/artificial-intelligence?fbclid=IwAR09fwU6mI9MwxRXQKtVzA0X2SnfnHMyPqkcKGJeH-pqn23iuXxGovuhFGI</vt:lpstr>
      <vt:lpstr>https://ourworldindata.org/artificial-intelligence?fbclid=IwAR09fwU6mI9MwxRXQKtVzA0X2SnfnHMyPqkcKGJeH-pqn23iuXxGovuhFGI</vt:lpstr>
      <vt:lpstr>  https://ourworldindata.org/artificial-intelligence?fbclid=IwAR09fwU6mI9MwxRXQKtVzA0X2SnfnHMyPqkcKGJeH-pqn23iuXxGovuhFGI </vt:lpstr>
      <vt:lpstr>https://www.astoncarter.com/en/insights/articles/top-accounting-and-finance-hiring-trends-in-2023?fbclid=IwAR1okObjxtmHQCCz8pfhuR8cZKTbPLSzz0Lsg9jYYJhXeuF_lRCi6WbF8ug</vt:lpstr>
      <vt:lpstr>https://www.astoncarter.com/en/insights/articles/top-accounting-and-finance-hiring-trends-in-2023?fbclid=IwAR1okObjxtmHQCCz8pfhuR8cZKTbPLSzz0Lsg9jYYJhXeuF_lRCi6WbF8ug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Graphs to Interpret</dc:title>
  <dc:creator>Compte Microsoft</dc:creator>
  <cp:lastModifiedBy>Achref Nejah</cp:lastModifiedBy>
  <cp:revision>19</cp:revision>
  <dcterms:created xsi:type="dcterms:W3CDTF">2023-10-05T11:00:43Z</dcterms:created>
  <dcterms:modified xsi:type="dcterms:W3CDTF">2023-11-21T19:52:19Z</dcterms:modified>
</cp:coreProperties>
</file>